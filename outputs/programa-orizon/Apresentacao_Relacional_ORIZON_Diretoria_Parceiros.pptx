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olfo Carneiro" userId="9492c1ce-3d9c-43ff-a5f7-4aef0439208f" providerId="ADAL" clId="{454437CE-6EBC-454B-B761-18BB20FD4811}"/>
    <pc:docChg chg="undo custSel modSld">
      <pc:chgData name="Rodolfo Carneiro" userId="9492c1ce-3d9c-43ff-a5f7-4aef0439208f" providerId="ADAL" clId="{454437CE-6EBC-454B-B761-18BB20FD4811}" dt="2026-05-29T19:39:32.999" v="9" actId="167"/>
      <pc:docMkLst>
        <pc:docMk/>
      </pc:docMkLst>
      <pc:sldChg chg="addSp delSp modSp mod">
        <pc:chgData name="Rodolfo Carneiro" userId="9492c1ce-3d9c-43ff-a5f7-4aef0439208f" providerId="ADAL" clId="{454437CE-6EBC-454B-B761-18BB20FD4811}" dt="2026-05-29T19:39:32.999" v="9" actId="167"/>
        <pc:sldMkLst>
          <pc:docMk/>
          <pc:sldMk cId="1475485856" sldId="259"/>
        </pc:sldMkLst>
        <pc:spChg chg="add del ord">
          <ac:chgData name="Rodolfo Carneiro" userId="9492c1ce-3d9c-43ff-a5f7-4aef0439208f" providerId="ADAL" clId="{454437CE-6EBC-454B-B761-18BB20FD4811}" dt="2026-05-29T19:39:19.426" v="5" actId="166"/>
          <ac:spMkLst>
            <pc:docMk/>
            <pc:sldMk cId="1475485856" sldId="259"/>
            <ac:spMk id="16" creationId="{2D259437-34F9-42CA-B601-D3D02F4029FA}"/>
          </ac:spMkLst>
        </pc:spChg>
        <pc:spChg chg="ord">
          <ac:chgData name="Rodolfo Carneiro" userId="9492c1ce-3d9c-43ff-a5f7-4aef0439208f" providerId="ADAL" clId="{454437CE-6EBC-454B-B761-18BB20FD4811}" dt="2026-05-29T19:39:30.499" v="8" actId="167"/>
          <ac:spMkLst>
            <pc:docMk/>
            <pc:sldMk cId="1475485856" sldId="259"/>
            <ac:spMk id="34" creationId="{11B881BE-CA25-4052-A5D9-7CC3486F76D5}"/>
          </ac:spMkLst>
        </pc:spChg>
        <pc:spChg chg="ord">
          <ac:chgData name="Rodolfo Carneiro" userId="9492c1ce-3d9c-43ff-a5f7-4aef0439208f" providerId="ADAL" clId="{454437CE-6EBC-454B-B761-18BB20FD4811}" dt="2026-05-29T19:39:23.116" v="6" actId="167"/>
          <ac:spMkLst>
            <pc:docMk/>
            <pc:sldMk cId="1475485856" sldId="259"/>
            <ac:spMk id="35" creationId="{0ECB7622-24DB-498C-8C4A-EC33C58FDFBE}"/>
          </ac:spMkLst>
        </pc:spChg>
        <pc:spChg chg="ord">
          <ac:chgData name="Rodolfo Carneiro" userId="9492c1ce-3d9c-43ff-a5f7-4aef0439208f" providerId="ADAL" clId="{454437CE-6EBC-454B-B761-18BB20FD4811}" dt="2026-05-29T19:39:32.999" v="9" actId="167"/>
          <ac:spMkLst>
            <pc:docMk/>
            <pc:sldMk cId="1475485856" sldId="259"/>
            <ac:spMk id="36" creationId="{FE69361A-A095-465C-BA94-3DF374F1987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109198AE-0534-4CC4-93EC-15AEC16D67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BC697CD-951D-4CD2-AAC3-627672170A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83B66"/>
              </a:gs>
              <a:gs pos="56000">
                <a:srgbClr val="0B4D79"/>
              </a:gs>
              <a:gs pos="100000">
                <a:srgbClr val="5D9B47"/>
              </a:gs>
            </a:gsLst>
            <a:lin ang="15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3FAA3EB-22B2-4B05-B509-0F4FBB3098CD}"/>
              </a:ext>
            </a:extLst>
          </p:cNvPr>
          <p:cNvSpPr>
            <a:spLocks noGrp="1"/>
          </p:cNvSpPr>
          <p:nvPr/>
        </p:nvSpPr>
        <p:spPr>
          <a:xfrm>
            <a:off x="857250" y="876300"/>
            <a:ext cx="666750" cy="47625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336A747-CA59-4B0D-A75E-B2282E9C39BE}"/>
              </a:ext>
            </a:extLst>
          </p:cNvPr>
          <p:cNvSpPr>
            <a:spLocks noGrp="1"/>
          </p:cNvSpPr>
          <p:nvPr/>
        </p:nvSpPr>
        <p:spPr>
          <a:xfrm>
            <a:off x="857250" y="1143000"/>
            <a:ext cx="495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ORIZON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1E42E9-EEB5-49EE-B627-B865B11751ED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723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Apresentação relacional do programa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1F89FE8-F23D-48C6-8F69-10E1F65FF2E6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7715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Uma arquitetura de parceria assistida para diagnosticar, corrigir e evoluir operações agrícolas com governança, evidência técnica e mensuração de resultado.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59B14A0-6010-4E19-842F-48645AF61ABA}"/>
              </a:ext>
            </a:extLst>
          </p:cNvPr>
          <p:cNvSpPr>
            <a:spLocks noGrp="1"/>
          </p:cNvSpPr>
          <p:nvPr/>
        </p:nvSpPr>
        <p:spPr>
          <a:xfrm>
            <a:off x="876300" y="4324350"/>
            <a:ext cx="9334500" cy="1028700"/>
          </a:xfrm>
          <a:prstGeom prst="rect">
            <a:avLst/>
          </a:prstGeom>
          <a:solidFill>
            <a:srgbClr val="FFFFFF">
              <a:alpha val="9412"/>
            </a:srgbClr>
          </a:solidFill>
          <a:ln w="9525">
            <a:solidFill>
              <a:srgbClr val="FFFFFF">
                <a:alpha val="22745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28F0306-3F14-486B-B4BE-312C69C3552F}"/>
              </a:ext>
            </a:extLst>
          </p:cNvPr>
          <p:cNvSpPr>
            <a:spLocks noGrp="1"/>
          </p:cNvSpPr>
          <p:nvPr/>
        </p:nvSpPr>
        <p:spPr>
          <a:xfrm>
            <a:off x="1181100" y="4629150"/>
            <a:ext cx="857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 diretoria: aprovar governança, sistemas e pilotos. Para parceiros: alinhar papéis, entregáveis e progressão técnica.</a:t>
            </a:r>
          </a:p>
        </p:txBody>
      </p:sp>
      <p:pic>
        <p:nvPicPr>
          <p:cNvPr id="9" name="Gráfico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953625" y="1066800"/>
            <a:ext cx="266700" cy="266700"/>
          </a:xfrm>
          <a:prstGeom prst="rect">
            <a:avLst/>
          </a:prstGeom>
        </p:spPr>
      </p:pic>
      <p:pic>
        <p:nvPicPr>
          <p:cNvPr id="10" name="Gráfico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382250" y="1066800"/>
            <a:ext cx="266700" cy="266700"/>
          </a:xfrm>
          <a:prstGeom prst="rect">
            <a:avLst/>
          </a:prstGeom>
        </p:spPr>
      </p:pic>
      <p:pic>
        <p:nvPicPr>
          <p:cNvPr id="11" name="Gráfico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810875" y="1066800"/>
            <a:ext cx="266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8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1F4CD12B-2368-4D50-854A-966E00ADE5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2C2CADA-0C1A-49F2-94B2-78CD63A995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19150" cy="685800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4BD059D-9CEF-4CB9-83A6-4AE76BBE6EB1}"/>
              </a:ext>
            </a:extLst>
          </p:cNvPr>
          <p:cNvSpPr>
            <a:spLocks noGrp="1"/>
          </p:cNvSpPr>
          <p:nvPr/>
        </p:nvSpPr>
        <p:spPr>
          <a:xfrm>
            <a:off x="171450" y="3238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ORIZON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D64DF60-46FF-43BA-83C1-6FBDEBDD7B27}"/>
              </a:ext>
            </a:extLst>
          </p:cNvPr>
          <p:cNvSpPr>
            <a:spLocks noGrp="1"/>
          </p:cNvSpPr>
          <p:nvPr/>
        </p:nvSpPr>
        <p:spPr>
          <a:xfrm>
            <a:off x="228600" y="742950"/>
            <a:ext cx="361950" cy="28575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D276A62-2F18-4BC8-BFC2-D53C8CB2BCF5}"/>
              </a:ext>
            </a:extLst>
          </p:cNvPr>
          <p:cNvSpPr>
            <a:spLocks noGrp="1"/>
          </p:cNvSpPr>
          <p:nvPr/>
        </p:nvSpPr>
        <p:spPr>
          <a:xfrm>
            <a:off x="1009650" y="304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01 | POSICIONAMENTO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62AB079-CB01-497D-8AA5-8BE6B969102C}"/>
              </a:ext>
            </a:extLst>
          </p:cNvPr>
          <p:cNvSpPr>
            <a:spLocks noGrp="1"/>
          </p:cNvSpPr>
          <p:nvPr/>
        </p:nvSpPr>
        <p:spPr>
          <a:xfrm>
            <a:off x="1009650" y="571500"/>
            <a:ext cx="838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Tese executiva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6CDAA78-726F-4468-8C8C-01096EB756E5}"/>
              </a:ext>
            </a:extLst>
          </p:cNvPr>
          <p:cNvSpPr>
            <a:spLocks noGrp="1"/>
          </p:cNvSpPr>
          <p:nvPr/>
        </p:nvSpPr>
        <p:spPr>
          <a:xfrm>
            <a:off x="1009650" y="64008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Plataforma de evolução operacional agrícola | Diretoria e parceiros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319E7F8-719A-4659-B82F-1127FB4AA0FD}"/>
              </a:ext>
            </a:extLst>
          </p:cNvPr>
          <p:cNvSpPr>
            <a:spLocks noGrp="1"/>
          </p:cNvSpPr>
          <p:nvPr/>
        </p:nvSpPr>
        <p:spPr>
          <a:xfrm>
            <a:off x="1143000" y="1428750"/>
            <a:ext cx="40005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160DCDA-7413-429F-826A-A327301DF774}"/>
              </a:ext>
            </a:extLst>
          </p:cNvPr>
          <p:cNvSpPr>
            <a:spLocks noGrp="1"/>
          </p:cNvSpPr>
          <p:nvPr/>
        </p:nvSpPr>
        <p:spPr>
          <a:xfrm>
            <a:off x="1428750" y="17335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9B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9B47"/>
                </a:solidFill>
                <a:latin typeface="Aptos"/>
                <a:ea typeface="Aptos"/>
                <a:cs typeface="Aptos"/>
              </a:rPr>
              <a:t>O QUE O ORIZON É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D7B6F9F-EC84-45D9-875F-2D9C83F2684A}"/>
              </a:ext>
            </a:extLst>
          </p:cNvPr>
          <p:cNvSpPr>
            <a:spLocks noGrp="1"/>
          </p:cNvSpPr>
          <p:nvPr/>
        </p:nvSpPr>
        <p:spPr>
          <a:xfrm>
            <a:off x="1428750" y="22002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460947D-4892-4053-8706-F36AB55DCD03}"/>
              </a:ext>
            </a:extLst>
          </p:cNvPr>
          <p:cNvSpPr>
            <a:spLocks noGrp="1"/>
          </p:cNvSpPr>
          <p:nvPr/>
        </p:nvSpPr>
        <p:spPr>
          <a:xfrm>
            <a:off x="1619250" y="2133600"/>
            <a:ext cx="30956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Plataforma de evolução operacional agrícola.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A98A833-A166-4428-B885-E3BC7A88FD5D}"/>
              </a:ext>
            </a:extLst>
          </p:cNvPr>
          <p:cNvSpPr>
            <a:spLocks noGrp="1"/>
          </p:cNvSpPr>
          <p:nvPr/>
        </p:nvSpPr>
        <p:spPr>
          <a:xfrm>
            <a:off x="1428750" y="271462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7BB9173-E683-434C-83F9-42C85FC910B6}"/>
              </a:ext>
            </a:extLst>
          </p:cNvPr>
          <p:cNvSpPr>
            <a:spLocks noGrp="1"/>
          </p:cNvSpPr>
          <p:nvPr/>
        </p:nvSpPr>
        <p:spPr>
          <a:xfrm>
            <a:off x="1619250" y="2647950"/>
            <a:ext cx="30956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Programa 100% assistido por diagnóstico, plano e governança.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6DDFF2F-1FB5-47DB-B26B-39DC7E8D48C2}"/>
              </a:ext>
            </a:extLst>
          </p:cNvPr>
          <p:cNvSpPr>
            <a:spLocks noGrp="1"/>
          </p:cNvSpPr>
          <p:nvPr/>
        </p:nvSpPr>
        <p:spPr>
          <a:xfrm>
            <a:off x="1428750" y="32289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75EDEA3-39EC-4F54-9DBF-3A9ECFDE17EC}"/>
              </a:ext>
            </a:extLst>
          </p:cNvPr>
          <p:cNvSpPr>
            <a:spLocks noGrp="1"/>
          </p:cNvSpPr>
          <p:nvPr/>
        </p:nvSpPr>
        <p:spPr>
          <a:xfrm>
            <a:off x="1619250" y="3162300"/>
            <a:ext cx="30956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Trilha relacional multi-ano para clientes e usinas estratégicas.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781943B-2636-4408-9ECD-C4F32E244BBA}"/>
              </a:ext>
            </a:extLst>
          </p:cNvPr>
          <p:cNvSpPr>
            <a:spLocks noGrp="1"/>
          </p:cNvSpPr>
          <p:nvPr/>
        </p:nvSpPr>
        <p:spPr>
          <a:xfrm>
            <a:off x="1428750" y="374332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BEFDBBC-BB2E-4007-922E-5AB23A7E35AC}"/>
              </a:ext>
            </a:extLst>
          </p:cNvPr>
          <p:cNvSpPr>
            <a:spLocks noGrp="1"/>
          </p:cNvSpPr>
          <p:nvPr/>
        </p:nvSpPr>
        <p:spPr>
          <a:xfrm>
            <a:off x="1619250" y="3676650"/>
            <a:ext cx="30956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Budget técnico-operacional liberado por evidência.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12C3E90-E104-4BB4-BA31-75D9240E26C4}"/>
              </a:ext>
            </a:extLst>
          </p:cNvPr>
          <p:cNvSpPr>
            <a:spLocks noGrp="1"/>
          </p:cNvSpPr>
          <p:nvPr/>
        </p:nvSpPr>
        <p:spPr>
          <a:xfrm>
            <a:off x="5810250" y="1428750"/>
            <a:ext cx="4000500" cy="3238500"/>
          </a:xfrm>
          <a:prstGeom prst="rect">
            <a:avLst/>
          </a:prstGeom>
          <a:solidFill>
            <a:srgbClr val="FFF7ED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2041FB5-B5E7-46E6-A334-0CD39D0F642D}"/>
              </a:ext>
            </a:extLst>
          </p:cNvPr>
          <p:cNvSpPr>
            <a:spLocks noGrp="1"/>
          </p:cNvSpPr>
          <p:nvPr/>
        </p:nvSpPr>
        <p:spPr>
          <a:xfrm>
            <a:off x="6096000" y="173355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O QUE NÃO PODE PARECER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6E70D47-AD0F-4668-8C37-486A2FD445EA}"/>
              </a:ext>
            </a:extLst>
          </p:cNvPr>
          <p:cNvSpPr>
            <a:spLocks noGrp="1"/>
          </p:cNvSpPr>
          <p:nvPr/>
        </p:nvSpPr>
        <p:spPr>
          <a:xfrm>
            <a:off x="6096000" y="22002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7D4D0FE-9D7D-4D34-88B4-A9340B861583}"/>
              </a:ext>
            </a:extLst>
          </p:cNvPr>
          <p:cNvSpPr>
            <a:spLocks noGrp="1"/>
          </p:cNvSpPr>
          <p:nvPr/>
        </p:nvSpPr>
        <p:spPr>
          <a:xfrm>
            <a:off x="6286500" y="2133600"/>
            <a:ext cx="304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Desconto ou rebate automático.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C1074FD-19BE-4FE2-8BB6-CCA8274B177E}"/>
              </a:ext>
            </a:extLst>
          </p:cNvPr>
          <p:cNvSpPr>
            <a:spLocks noGrp="1"/>
          </p:cNvSpPr>
          <p:nvPr/>
        </p:nvSpPr>
        <p:spPr>
          <a:xfrm>
            <a:off x="6096000" y="271462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0E51759-B11F-4745-99CC-3259121ED147}"/>
              </a:ext>
            </a:extLst>
          </p:cNvPr>
          <p:cNvSpPr>
            <a:spLocks noGrp="1"/>
          </p:cNvSpPr>
          <p:nvPr/>
        </p:nvSpPr>
        <p:spPr>
          <a:xfrm>
            <a:off x="6286500" y="2647950"/>
            <a:ext cx="304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Política comercial isolada por volume vendido.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B161746-AE11-42E7-BCF9-084B7F13D222}"/>
              </a:ext>
            </a:extLst>
          </p:cNvPr>
          <p:cNvSpPr>
            <a:spLocks noGrp="1"/>
          </p:cNvSpPr>
          <p:nvPr/>
        </p:nvSpPr>
        <p:spPr>
          <a:xfrm>
            <a:off x="6096000" y="32289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FADDA58-07D2-4C28-B9B9-ABC3686C0304}"/>
              </a:ext>
            </a:extLst>
          </p:cNvPr>
          <p:cNvSpPr>
            <a:spLocks noGrp="1"/>
          </p:cNvSpPr>
          <p:nvPr/>
        </p:nvSpPr>
        <p:spPr>
          <a:xfrm>
            <a:off x="6286500" y="3162300"/>
            <a:ext cx="304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Subsídio solto sem laudo, plano técnico ou aprovação.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90A6E46-72ED-48A7-BCDF-FBC1E76762B0}"/>
              </a:ext>
            </a:extLst>
          </p:cNvPr>
          <p:cNvSpPr>
            <a:spLocks noGrp="1"/>
          </p:cNvSpPr>
          <p:nvPr/>
        </p:nvSpPr>
        <p:spPr>
          <a:xfrm>
            <a:off x="6096000" y="374332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5A18E16-84F2-4F4E-A2A6-7E1C9DD22E11}"/>
              </a:ext>
            </a:extLst>
          </p:cNvPr>
          <p:cNvSpPr>
            <a:spLocks noGrp="1"/>
          </p:cNvSpPr>
          <p:nvPr/>
        </p:nvSpPr>
        <p:spPr>
          <a:xfrm>
            <a:off x="6286500" y="3676650"/>
            <a:ext cx="304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Campanha de curto prazo sem evolução mensurada.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88EA4E6B-1840-4D74-992F-B7DAC5EFB5C3}"/>
              </a:ext>
            </a:extLst>
          </p:cNvPr>
          <p:cNvSpPr>
            <a:spLocks noGrp="1"/>
          </p:cNvSpPr>
          <p:nvPr/>
        </p:nvSpPr>
        <p:spPr>
          <a:xfrm>
            <a:off x="5143500" y="2571750"/>
            <a:ext cx="666750" cy="190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Gráfico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238750" y="2343150"/>
            <a:ext cx="266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6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ângulo 44">
            <a:extLst>
              <a:ext uri="{FF2B5EF4-FFF2-40B4-BE49-F238E27FC236}">
                <a16:creationId xmlns:a16="http://schemas.microsoft.com/office/drawing/2014/main" id="{BF23A7CB-C8BA-4D0F-8E58-F101E0421E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5B5D706-BFBC-4D6F-A515-109FF36678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19150" cy="685800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6C3563B-9753-4916-B8C8-324E5DAFC6A2}"/>
              </a:ext>
            </a:extLst>
          </p:cNvPr>
          <p:cNvSpPr>
            <a:spLocks noGrp="1"/>
          </p:cNvSpPr>
          <p:nvPr/>
        </p:nvSpPr>
        <p:spPr>
          <a:xfrm>
            <a:off x="171450" y="3238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ORIZON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71C7A96-E700-4839-BC33-33C5CF58DDDC}"/>
              </a:ext>
            </a:extLst>
          </p:cNvPr>
          <p:cNvSpPr>
            <a:spLocks noGrp="1"/>
          </p:cNvSpPr>
          <p:nvPr/>
        </p:nvSpPr>
        <p:spPr>
          <a:xfrm>
            <a:off x="228600" y="742950"/>
            <a:ext cx="361950" cy="28575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9CD5591-FDB4-473A-AB2E-53EDFBBBC951}"/>
              </a:ext>
            </a:extLst>
          </p:cNvPr>
          <p:cNvSpPr>
            <a:spLocks noGrp="1"/>
          </p:cNvSpPr>
          <p:nvPr/>
        </p:nvSpPr>
        <p:spPr>
          <a:xfrm>
            <a:off x="1009650" y="304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02 | CARTEIRA 2026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CC1C513-D96C-4C1B-8268-043166B136B5}"/>
              </a:ext>
            </a:extLst>
          </p:cNvPr>
          <p:cNvSpPr>
            <a:spLocks noGrp="1"/>
          </p:cNvSpPr>
          <p:nvPr/>
        </p:nvSpPr>
        <p:spPr>
          <a:xfrm>
            <a:off x="1009650" y="571500"/>
            <a:ext cx="838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Base atual para decisão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1BFA7DD-BCB9-4352-862E-7B977945F1D9}"/>
              </a:ext>
            </a:extLst>
          </p:cNvPr>
          <p:cNvSpPr>
            <a:spLocks noGrp="1"/>
          </p:cNvSpPr>
          <p:nvPr/>
        </p:nvSpPr>
        <p:spPr>
          <a:xfrm>
            <a:off x="1009650" y="64008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Plataforma de evolução operacional agrícola | Diretoria e parceiros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490CE2F-FB26-4A93-863D-5B30986102E2}"/>
              </a:ext>
            </a:extLst>
          </p:cNvPr>
          <p:cNvSpPr>
            <a:spLocks noGrp="1"/>
          </p:cNvSpPr>
          <p:nvPr/>
        </p:nvSpPr>
        <p:spPr>
          <a:xfrm>
            <a:off x="1123950" y="1504950"/>
            <a:ext cx="20955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A1E4D52-DE1C-48C6-AA67-889F4F56EBC5}"/>
              </a:ext>
            </a:extLst>
          </p:cNvPr>
          <p:cNvSpPr>
            <a:spLocks noGrp="1"/>
          </p:cNvSpPr>
          <p:nvPr/>
        </p:nvSpPr>
        <p:spPr>
          <a:xfrm>
            <a:off x="1295400" y="1695450"/>
            <a:ext cx="1752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0F070D3-BC2C-4278-8FAE-B30FB02977A8}"/>
              </a:ext>
            </a:extLst>
          </p:cNvPr>
          <p:cNvSpPr>
            <a:spLocks noGrp="1"/>
          </p:cNvSpPr>
          <p:nvPr/>
        </p:nvSpPr>
        <p:spPr>
          <a:xfrm>
            <a:off x="1295400" y="211455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clientes/usinas mapeados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F911BAC-935B-4C66-A545-819ACAAAC686}"/>
              </a:ext>
            </a:extLst>
          </p:cNvPr>
          <p:cNvSpPr>
            <a:spLocks noGrp="1"/>
          </p:cNvSpPr>
          <p:nvPr/>
        </p:nvSpPr>
        <p:spPr>
          <a:xfrm>
            <a:off x="3524250" y="1504950"/>
            <a:ext cx="238125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96D2EDB-8EFB-4F99-B940-D9FA0C94D5EA}"/>
              </a:ext>
            </a:extLst>
          </p:cNvPr>
          <p:cNvSpPr>
            <a:spLocks noGrp="1"/>
          </p:cNvSpPr>
          <p:nvPr/>
        </p:nvSpPr>
        <p:spPr>
          <a:xfrm>
            <a:off x="3695700" y="1695450"/>
            <a:ext cx="2038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5D9B4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5D9B47"/>
                </a:solidFill>
                <a:latin typeface="Aptos"/>
                <a:ea typeface="Aptos"/>
                <a:cs typeface="Aptos"/>
              </a:rPr>
              <a:t>3,956 mi ha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30C349E-C9B8-42AE-AA34-B49B06359280}"/>
              </a:ext>
            </a:extLst>
          </p:cNvPr>
          <p:cNvSpPr>
            <a:spLocks noGrp="1"/>
          </p:cNvSpPr>
          <p:nvPr/>
        </p:nvSpPr>
        <p:spPr>
          <a:xfrm>
            <a:off x="3695700" y="21145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área potencial consolidada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88C7D2F-25E2-4B12-B32E-51DB89BC0B55}"/>
              </a:ext>
            </a:extLst>
          </p:cNvPr>
          <p:cNvSpPr>
            <a:spLocks noGrp="1"/>
          </p:cNvSpPr>
          <p:nvPr/>
        </p:nvSpPr>
        <p:spPr>
          <a:xfrm>
            <a:off x="6210300" y="1504950"/>
            <a:ext cx="238125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6AA47DA-FB70-4E49-8103-FECFF5A90468}"/>
              </a:ext>
            </a:extLst>
          </p:cNvPr>
          <p:cNvSpPr>
            <a:spLocks noGrp="1"/>
          </p:cNvSpPr>
          <p:nvPr/>
        </p:nvSpPr>
        <p:spPr>
          <a:xfrm>
            <a:off x="6381750" y="1695450"/>
            <a:ext cx="2038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R$ 505 mi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5019391-D16E-4405-AC0F-D3C9B352722B}"/>
              </a:ext>
            </a:extLst>
          </p:cNvPr>
          <p:cNvSpPr>
            <a:spLocks noGrp="1"/>
          </p:cNvSpPr>
          <p:nvPr/>
        </p:nvSpPr>
        <p:spPr>
          <a:xfrm>
            <a:off x="6381750" y="21145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potencial de ecossistema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BDEFA20-8705-458D-A7FD-4FDA328EB277}"/>
              </a:ext>
            </a:extLst>
          </p:cNvPr>
          <p:cNvSpPr>
            <a:spLocks noGrp="1"/>
          </p:cNvSpPr>
          <p:nvPr/>
        </p:nvSpPr>
        <p:spPr>
          <a:xfrm>
            <a:off x="8896350" y="1504950"/>
            <a:ext cx="238125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719291B-D3EB-4B12-A086-11E947AF4C42}"/>
              </a:ext>
            </a:extLst>
          </p:cNvPr>
          <p:cNvSpPr>
            <a:spLocks noGrp="1"/>
          </p:cNvSpPr>
          <p:nvPr/>
        </p:nvSpPr>
        <p:spPr>
          <a:xfrm>
            <a:off x="9067800" y="1695450"/>
            <a:ext cx="2038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R$ 8,27 mi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D2C503B-DE89-4743-9441-F2B21F1A071D}"/>
              </a:ext>
            </a:extLst>
          </p:cNvPr>
          <p:cNvSpPr>
            <a:spLocks noGrp="1"/>
          </p:cNvSpPr>
          <p:nvPr/>
        </p:nvSpPr>
        <p:spPr>
          <a:xfrm>
            <a:off x="9067800" y="21145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créditos potenciais recomendados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F11C1EB-43D2-4C40-8FD1-14D5910EF2F2}"/>
              </a:ext>
            </a:extLst>
          </p:cNvPr>
          <p:cNvSpPr>
            <a:spLocks noGrp="1"/>
          </p:cNvSpPr>
          <p:nvPr/>
        </p:nvSpPr>
        <p:spPr>
          <a:xfrm>
            <a:off x="1123950" y="3028950"/>
            <a:ext cx="47625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6523013-A000-4BD5-A993-F47295C49932}"/>
              </a:ext>
            </a:extLst>
          </p:cNvPr>
          <p:cNvSpPr>
            <a:spLocks noGrp="1"/>
          </p:cNvSpPr>
          <p:nvPr/>
        </p:nvSpPr>
        <p:spPr>
          <a:xfrm>
            <a:off x="1390650" y="329565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DISTRIBUIÇÃO POR NÍVEL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E303BEB-9DA0-403B-BD46-5E303C8E5B1F}"/>
              </a:ext>
            </a:extLst>
          </p:cNvPr>
          <p:cNvSpPr>
            <a:spLocks noGrp="1"/>
          </p:cNvSpPr>
          <p:nvPr/>
        </p:nvSpPr>
        <p:spPr>
          <a:xfrm>
            <a:off x="1390650" y="36957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A699BAF-54F7-4989-83F2-B6EF097BB5DA}"/>
              </a:ext>
            </a:extLst>
          </p:cNvPr>
          <p:cNvSpPr>
            <a:spLocks noGrp="1"/>
          </p:cNvSpPr>
          <p:nvPr/>
        </p:nvSpPr>
        <p:spPr>
          <a:xfrm>
            <a:off x="2762250" y="3743325"/>
            <a:ext cx="2171700" cy="11430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C18458D-DA3F-4FC3-842C-A45919EF68F9}"/>
              </a:ext>
            </a:extLst>
          </p:cNvPr>
          <p:cNvSpPr>
            <a:spLocks noGrp="1"/>
          </p:cNvSpPr>
          <p:nvPr/>
        </p:nvSpPr>
        <p:spPr>
          <a:xfrm>
            <a:off x="5143500" y="369570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6ED9A28-2FB4-4D67-B62A-A203853935BA}"/>
              </a:ext>
            </a:extLst>
          </p:cNvPr>
          <p:cNvSpPr>
            <a:spLocks noGrp="1"/>
          </p:cNvSpPr>
          <p:nvPr/>
        </p:nvSpPr>
        <p:spPr>
          <a:xfrm>
            <a:off x="1390650" y="398145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4E4097F-FF27-4885-98EE-A2A6493BD5C9}"/>
              </a:ext>
            </a:extLst>
          </p:cNvPr>
          <p:cNvSpPr>
            <a:spLocks noGrp="1"/>
          </p:cNvSpPr>
          <p:nvPr/>
        </p:nvSpPr>
        <p:spPr>
          <a:xfrm>
            <a:off x="2762250" y="4029075"/>
            <a:ext cx="1828800" cy="114300"/>
          </a:xfrm>
          <a:prstGeom prst="rect">
            <a:avLst/>
          </a:prstGeom>
          <a:solidFill>
            <a:srgbClr val="5D9B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A36CAA7-9DE1-42EE-8E19-28C5F0EC6E0E}"/>
              </a:ext>
            </a:extLst>
          </p:cNvPr>
          <p:cNvSpPr>
            <a:spLocks noGrp="1"/>
          </p:cNvSpPr>
          <p:nvPr/>
        </p:nvSpPr>
        <p:spPr>
          <a:xfrm>
            <a:off x="5143500" y="39814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F666F07-903C-42CF-904C-75A7722F96E4}"/>
              </a:ext>
            </a:extLst>
          </p:cNvPr>
          <p:cNvSpPr>
            <a:spLocks noGrp="1"/>
          </p:cNvSpPr>
          <p:nvPr/>
        </p:nvSpPr>
        <p:spPr>
          <a:xfrm>
            <a:off x="1390650" y="42672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Prime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8E6F9F8-C437-4C0C-AF82-B2B0B487AFEE}"/>
              </a:ext>
            </a:extLst>
          </p:cNvPr>
          <p:cNvSpPr>
            <a:spLocks noGrp="1"/>
          </p:cNvSpPr>
          <p:nvPr/>
        </p:nvSpPr>
        <p:spPr>
          <a:xfrm>
            <a:off x="2762250" y="4314825"/>
            <a:ext cx="457200" cy="1143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D0D949F-16E5-4F2A-B6C2-29D91895D378}"/>
              </a:ext>
            </a:extLst>
          </p:cNvPr>
          <p:cNvSpPr>
            <a:spLocks noGrp="1"/>
          </p:cNvSpPr>
          <p:nvPr/>
        </p:nvSpPr>
        <p:spPr>
          <a:xfrm>
            <a:off x="5143500" y="426720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E4D0575D-037C-432D-977C-54C4BB98D36C}"/>
              </a:ext>
            </a:extLst>
          </p:cNvPr>
          <p:cNvSpPr>
            <a:spLocks noGrp="1"/>
          </p:cNvSpPr>
          <p:nvPr/>
        </p:nvSpPr>
        <p:spPr>
          <a:xfrm>
            <a:off x="1390650" y="455295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Legacy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D1897AB-B366-4893-BC2E-E8A61DE7903D}"/>
              </a:ext>
            </a:extLst>
          </p:cNvPr>
          <p:cNvSpPr>
            <a:spLocks noGrp="1"/>
          </p:cNvSpPr>
          <p:nvPr/>
        </p:nvSpPr>
        <p:spPr>
          <a:xfrm>
            <a:off x="2762250" y="4600575"/>
            <a:ext cx="457200" cy="11430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254549C1-E0BC-43B4-AA35-12911F0215BF}"/>
              </a:ext>
            </a:extLst>
          </p:cNvPr>
          <p:cNvSpPr>
            <a:spLocks noGrp="1"/>
          </p:cNvSpPr>
          <p:nvPr/>
        </p:nvSpPr>
        <p:spPr>
          <a:xfrm>
            <a:off x="5143500" y="45529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0E480AC-CBA9-453F-BAC3-905A72490D09}"/>
              </a:ext>
            </a:extLst>
          </p:cNvPr>
          <p:cNvSpPr>
            <a:spLocks noGrp="1"/>
          </p:cNvSpPr>
          <p:nvPr/>
        </p:nvSpPr>
        <p:spPr>
          <a:xfrm>
            <a:off x="1390650" y="48387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Legacy Anchor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FFE96604-FC86-495D-8E62-B2DEAE7037F7}"/>
              </a:ext>
            </a:extLst>
          </p:cNvPr>
          <p:cNvSpPr>
            <a:spLocks noGrp="1"/>
          </p:cNvSpPr>
          <p:nvPr/>
        </p:nvSpPr>
        <p:spPr>
          <a:xfrm>
            <a:off x="2762250" y="4886325"/>
            <a:ext cx="114300" cy="11430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B42C85F1-00A9-4DC4-B61C-A53C8AC30A21}"/>
              </a:ext>
            </a:extLst>
          </p:cNvPr>
          <p:cNvSpPr>
            <a:spLocks noGrp="1"/>
          </p:cNvSpPr>
          <p:nvPr/>
        </p:nvSpPr>
        <p:spPr>
          <a:xfrm>
            <a:off x="5143500" y="483870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9CBD0669-FAE5-4ACE-AB3E-2E1213DA2A4D}"/>
              </a:ext>
            </a:extLst>
          </p:cNvPr>
          <p:cNvSpPr>
            <a:spLocks noGrp="1"/>
          </p:cNvSpPr>
          <p:nvPr/>
        </p:nvSpPr>
        <p:spPr>
          <a:xfrm>
            <a:off x="6477000" y="3028950"/>
            <a:ext cx="4762500" cy="2209800"/>
          </a:xfrm>
          <a:prstGeom prst="rect">
            <a:avLst/>
          </a:prstGeom>
          <a:solidFill>
            <a:srgbClr val="E7F0F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991350BC-19F2-406A-BC47-3E460CABD441}"/>
              </a:ext>
            </a:extLst>
          </p:cNvPr>
          <p:cNvSpPr>
            <a:spLocks noGrp="1"/>
          </p:cNvSpPr>
          <p:nvPr/>
        </p:nvSpPr>
        <p:spPr>
          <a:xfrm>
            <a:off x="6743700" y="329565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LEITURA PARA DIRETORIA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1410DA23-372F-493F-B25D-C32E5447EBBA}"/>
              </a:ext>
            </a:extLst>
          </p:cNvPr>
          <p:cNvSpPr>
            <a:spLocks noGrp="1"/>
          </p:cNvSpPr>
          <p:nvPr/>
        </p:nvSpPr>
        <p:spPr>
          <a:xfrm>
            <a:off x="6743700" y="378142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D1F3FB3E-22C5-4D04-9207-51959CD9108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3714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 carteira já permite priorização por maturidade, não apenas por faturamento.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77F58912-BD09-4635-B5C4-2A3C2E9A8348}"/>
              </a:ext>
            </a:extLst>
          </p:cNvPr>
          <p:cNvSpPr>
            <a:spLocks noGrp="1"/>
          </p:cNvSpPr>
          <p:nvPr/>
        </p:nvSpPr>
        <p:spPr>
          <a:xfrm>
            <a:off x="6743700" y="427672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13B241B8-6ADD-4D10-BF89-F5CBA81FA1B3}"/>
              </a:ext>
            </a:extLst>
          </p:cNvPr>
          <p:cNvSpPr>
            <a:spLocks noGrp="1"/>
          </p:cNvSpPr>
          <p:nvPr/>
        </p:nvSpPr>
        <p:spPr>
          <a:xfrm>
            <a:off x="6934200" y="4210050"/>
            <a:ext cx="3714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 budget precisa ser governado por plano técnico aprovado.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B9338B76-1CDD-4C24-80D5-2116E162F7E9}"/>
              </a:ext>
            </a:extLst>
          </p:cNvPr>
          <p:cNvSpPr>
            <a:spLocks noGrp="1"/>
          </p:cNvSpPr>
          <p:nvPr/>
        </p:nvSpPr>
        <p:spPr>
          <a:xfrm>
            <a:off x="6743700" y="477202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E4D731C1-7345-4AB5-A53E-00EFC7DE9AF7}"/>
              </a:ext>
            </a:extLst>
          </p:cNvPr>
          <p:cNvSpPr>
            <a:spLocks noGrp="1"/>
          </p:cNvSpPr>
          <p:nvPr/>
        </p:nvSpPr>
        <p:spPr>
          <a:xfrm>
            <a:off x="6934200" y="4705350"/>
            <a:ext cx="3714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Raízen deve operar como piloto LEGACY Anchor e referência de escala.</a:t>
            </a:r>
          </a:p>
        </p:txBody>
      </p:sp>
    </p:spTree>
    <p:extLst>
      <p:ext uri="{BB962C8B-B14F-4D97-AF65-F5344CB8AC3E}">
        <p14:creationId xmlns:p14="http://schemas.microsoft.com/office/powerpoint/2010/main" val="129640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tângulo 35">
            <a:extLst>
              <a:ext uri="{FF2B5EF4-FFF2-40B4-BE49-F238E27FC236}">
                <a16:creationId xmlns:a16="http://schemas.microsoft.com/office/drawing/2014/main" id="{FE69361A-A095-465C-BA94-3DF374F198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1B881BE-CA25-4052-A5D9-7CC3486F76D5}"/>
              </a:ext>
            </a:extLst>
          </p:cNvPr>
          <p:cNvSpPr>
            <a:spLocks noGrp="1"/>
          </p:cNvSpPr>
          <p:nvPr/>
        </p:nvSpPr>
        <p:spPr>
          <a:xfrm>
            <a:off x="6076950" y="2457450"/>
            <a:ext cx="152400" cy="80010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0ECB7622-24DB-498C-8C4A-EC33C58FDFBE}"/>
              </a:ext>
            </a:extLst>
          </p:cNvPr>
          <p:cNvSpPr>
            <a:spLocks noGrp="1"/>
          </p:cNvSpPr>
          <p:nvPr/>
        </p:nvSpPr>
        <p:spPr>
          <a:xfrm>
            <a:off x="6076950" y="3695700"/>
            <a:ext cx="152400" cy="80010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114227D-C831-4DC3-B736-C230FDDC91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19150" cy="685800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63EF4B4-1292-4178-95A3-04CBC4CE11CE}"/>
              </a:ext>
            </a:extLst>
          </p:cNvPr>
          <p:cNvSpPr>
            <a:spLocks noGrp="1"/>
          </p:cNvSpPr>
          <p:nvPr/>
        </p:nvSpPr>
        <p:spPr>
          <a:xfrm>
            <a:off x="171450" y="3238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ORIZON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BD16FD7-DD38-469E-BC61-EB835FE5A8BE}"/>
              </a:ext>
            </a:extLst>
          </p:cNvPr>
          <p:cNvSpPr>
            <a:spLocks noGrp="1"/>
          </p:cNvSpPr>
          <p:nvPr/>
        </p:nvSpPr>
        <p:spPr>
          <a:xfrm>
            <a:off x="228600" y="742950"/>
            <a:ext cx="361950" cy="28575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6BB19FF-589A-4401-AE8B-DE1049E8A202}"/>
              </a:ext>
            </a:extLst>
          </p:cNvPr>
          <p:cNvSpPr>
            <a:spLocks noGrp="1"/>
          </p:cNvSpPr>
          <p:nvPr/>
        </p:nvSpPr>
        <p:spPr>
          <a:xfrm>
            <a:off x="1009650" y="304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03 | ECOSSISTEMA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A735239-F915-464B-9259-0E85563B9F21}"/>
              </a:ext>
            </a:extLst>
          </p:cNvPr>
          <p:cNvSpPr>
            <a:spLocks noGrp="1"/>
          </p:cNvSpPr>
          <p:nvPr/>
        </p:nvSpPr>
        <p:spPr>
          <a:xfrm>
            <a:off x="1009650" y="571500"/>
            <a:ext cx="838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Mapa relacional: quem decide, quem executa e quem prova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33475CE-63B3-4B79-88F3-AA40E6A8561C}"/>
              </a:ext>
            </a:extLst>
          </p:cNvPr>
          <p:cNvSpPr>
            <a:spLocks noGrp="1"/>
          </p:cNvSpPr>
          <p:nvPr/>
        </p:nvSpPr>
        <p:spPr>
          <a:xfrm>
            <a:off x="1009650" y="64008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Plataforma de evolução operacional agrícola | Diretoria e parceiros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19DC8B4-4207-4941-8A84-B61A298E0C62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23812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Gráfico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600200" y="1828800"/>
            <a:ext cx="266700" cy="26670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D3E5120D-0722-486E-A83B-3020D72601E8}"/>
              </a:ext>
            </a:extLst>
          </p:cNvPr>
          <p:cNvSpPr>
            <a:spLocks noGrp="1"/>
          </p:cNvSpPr>
          <p:nvPr/>
        </p:nvSpPr>
        <p:spPr>
          <a:xfrm>
            <a:off x="1981200" y="18288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Diretoria NOOA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F4E80FD-3C3A-4D37-9CE8-1CE69D151882}"/>
              </a:ext>
            </a:extLst>
          </p:cNvPr>
          <p:cNvSpPr>
            <a:spLocks noGrp="1"/>
          </p:cNvSpPr>
          <p:nvPr/>
        </p:nvSpPr>
        <p:spPr>
          <a:xfrm>
            <a:off x="1619250" y="22288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Aprova tese, governança, orçamento e alçadas.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1083A61-3F6A-445D-BA08-03948CF11B01}"/>
              </a:ext>
            </a:extLst>
          </p:cNvPr>
          <p:cNvSpPr>
            <a:spLocks noGrp="1"/>
          </p:cNvSpPr>
          <p:nvPr/>
        </p:nvSpPr>
        <p:spPr>
          <a:xfrm>
            <a:off x="1428750" y="4095750"/>
            <a:ext cx="23812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600200" y="4286250"/>
            <a:ext cx="266700" cy="266700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C342B61F-5219-4CB7-9C99-5D2ADBFAF234}"/>
              </a:ext>
            </a:extLst>
          </p:cNvPr>
          <p:cNvSpPr>
            <a:spLocks noGrp="1"/>
          </p:cNvSpPr>
          <p:nvPr/>
        </p:nvSpPr>
        <p:spPr>
          <a:xfrm>
            <a:off x="1981200" y="42862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Comercial / DTM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8D1C97B-4640-41C2-B0FF-5FFCAF6BF258}"/>
              </a:ext>
            </a:extLst>
          </p:cNvPr>
          <p:cNvSpPr>
            <a:spLocks noGrp="1"/>
          </p:cNvSpPr>
          <p:nvPr/>
        </p:nvSpPr>
        <p:spPr>
          <a:xfrm>
            <a:off x="1619250" y="468630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Conduz conta, prioriza usina e sustenta relacionamento.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D259437-34F9-42CA-B601-D3D02F4029FA}"/>
              </a:ext>
            </a:extLst>
          </p:cNvPr>
          <p:cNvSpPr>
            <a:spLocks noGrp="1"/>
          </p:cNvSpPr>
          <p:nvPr/>
        </p:nvSpPr>
        <p:spPr>
          <a:xfrm>
            <a:off x="4953000" y="2857500"/>
            <a:ext cx="23812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Gráfico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124450" y="3048000"/>
            <a:ext cx="266700" cy="26670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080928E9-97F8-4C07-8F54-F8CE85F096B5}"/>
              </a:ext>
            </a:extLst>
          </p:cNvPr>
          <p:cNvSpPr>
            <a:spLocks noGrp="1"/>
          </p:cNvSpPr>
          <p:nvPr/>
        </p:nvSpPr>
        <p:spPr>
          <a:xfrm>
            <a:off x="5505450" y="30480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5D9B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D9B47"/>
                </a:solidFill>
                <a:latin typeface="Aptos"/>
                <a:ea typeface="Aptos"/>
                <a:cs typeface="Aptos"/>
              </a:rPr>
              <a:t>Cliente / Usina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5022BF9-F190-4E72-A75D-04490D8E0D17}"/>
              </a:ext>
            </a:extLst>
          </p:cNvPr>
          <p:cNvSpPr>
            <a:spLocks noGrp="1"/>
          </p:cNvSpPr>
          <p:nvPr/>
        </p:nvSpPr>
        <p:spPr>
          <a:xfrm>
            <a:off x="5143500" y="34480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Abre dados, valida gargalos, executa plano e mede resultado.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852AB5C-B7DA-4D57-A99A-580CF895C84E}"/>
              </a:ext>
            </a:extLst>
          </p:cNvPr>
          <p:cNvSpPr>
            <a:spLocks noGrp="1"/>
          </p:cNvSpPr>
          <p:nvPr/>
        </p:nvSpPr>
        <p:spPr>
          <a:xfrm>
            <a:off x="8477250" y="1638300"/>
            <a:ext cx="23812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Gráfico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648700" y="1828800"/>
            <a:ext cx="266700" cy="266700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253C3C1E-647C-4EC3-A7A7-ACE23221509E}"/>
              </a:ext>
            </a:extLst>
          </p:cNvPr>
          <p:cNvSpPr>
            <a:spLocks noGrp="1"/>
          </p:cNvSpPr>
          <p:nvPr/>
        </p:nvSpPr>
        <p:spPr>
          <a:xfrm>
            <a:off x="9029700" y="18288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TCH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3A74B5A-A683-4C5A-99B4-6C6726B5AC3A}"/>
              </a:ext>
            </a:extLst>
          </p:cNvPr>
          <p:cNvSpPr>
            <a:spLocks noGrp="1"/>
          </p:cNvSpPr>
          <p:nvPr/>
        </p:nvSpPr>
        <p:spPr>
          <a:xfrm>
            <a:off x="8667750" y="22288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Diagnóstico, laudo, treinamento, reavaliação e evidência independente.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D2E2486-3BA1-4317-AF8B-3AD1386BE35B}"/>
              </a:ext>
            </a:extLst>
          </p:cNvPr>
          <p:cNvSpPr>
            <a:spLocks noGrp="1"/>
          </p:cNvSpPr>
          <p:nvPr/>
        </p:nvSpPr>
        <p:spPr>
          <a:xfrm>
            <a:off x="8477250" y="4095750"/>
            <a:ext cx="23812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Gráfico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648700" y="4286250"/>
            <a:ext cx="266700" cy="266700"/>
          </a:xfrm>
          <a:prstGeom prst="rect">
            <a:avLst/>
          </a:prstGeom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670FC4F1-9361-48B3-99B9-BD01253BA649}"/>
              </a:ext>
            </a:extLst>
          </p:cNvPr>
          <p:cNvSpPr>
            <a:spLocks noGrp="1"/>
          </p:cNvSpPr>
          <p:nvPr/>
        </p:nvSpPr>
        <p:spPr>
          <a:xfrm>
            <a:off x="9029700" y="42862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Mais Máquinas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CD0E97-0074-4C20-B6C8-ED8E4D0F7F2E}"/>
              </a:ext>
            </a:extLst>
          </p:cNvPr>
          <p:cNvSpPr>
            <a:spLocks noGrp="1"/>
          </p:cNvSpPr>
          <p:nvPr/>
        </p:nvSpPr>
        <p:spPr>
          <a:xfrm>
            <a:off x="8667750" y="468630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Evolução estrutural quando o gargalo exige equipamento.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C5823FF-1D44-454E-8F19-AB8DFC5CDDAD}"/>
              </a:ext>
            </a:extLst>
          </p:cNvPr>
          <p:cNvSpPr>
            <a:spLocks noGrp="1"/>
          </p:cNvSpPr>
          <p:nvPr/>
        </p:nvSpPr>
        <p:spPr>
          <a:xfrm>
            <a:off x="3810000" y="2266950"/>
            <a:ext cx="1143000" cy="190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80BC0EF9-C5AF-4282-BDEC-507EE2EC5C4E}"/>
              </a:ext>
            </a:extLst>
          </p:cNvPr>
          <p:cNvSpPr>
            <a:spLocks noGrp="1"/>
          </p:cNvSpPr>
          <p:nvPr/>
        </p:nvSpPr>
        <p:spPr>
          <a:xfrm>
            <a:off x="4876800" y="2219325"/>
            <a:ext cx="95250" cy="952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7E8D57F-9950-4303-B0A1-1732F303661D}"/>
              </a:ext>
            </a:extLst>
          </p:cNvPr>
          <p:cNvSpPr>
            <a:spLocks noGrp="1"/>
          </p:cNvSpPr>
          <p:nvPr/>
        </p:nvSpPr>
        <p:spPr>
          <a:xfrm>
            <a:off x="3810000" y="4724400"/>
            <a:ext cx="1143000" cy="190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0FDD3D22-F6BD-4DCD-9515-ABAE4922FCC1}"/>
              </a:ext>
            </a:extLst>
          </p:cNvPr>
          <p:cNvSpPr>
            <a:spLocks noGrp="1"/>
          </p:cNvSpPr>
          <p:nvPr/>
        </p:nvSpPr>
        <p:spPr>
          <a:xfrm>
            <a:off x="4876800" y="4676775"/>
            <a:ext cx="95250" cy="952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5C14AE0-B9D8-492B-B3DE-D5614B3EF934}"/>
              </a:ext>
            </a:extLst>
          </p:cNvPr>
          <p:cNvSpPr>
            <a:spLocks noGrp="1"/>
          </p:cNvSpPr>
          <p:nvPr/>
        </p:nvSpPr>
        <p:spPr>
          <a:xfrm>
            <a:off x="7334250" y="3476625"/>
            <a:ext cx="1143000" cy="190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905FE1A-D162-40BF-90A2-F0E80A64DAFF}"/>
              </a:ext>
            </a:extLst>
          </p:cNvPr>
          <p:cNvSpPr>
            <a:spLocks noGrp="1"/>
          </p:cNvSpPr>
          <p:nvPr/>
        </p:nvSpPr>
        <p:spPr>
          <a:xfrm>
            <a:off x="8401050" y="3429000"/>
            <a:ext cx="95250" cy="952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5485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E053FBDF-3A33-4215-AFFD-D79ED8C04F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D5AB9F7-7067-49F8-9239-59EFAD3442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19150" cy="685800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DE30137-D2BB-4A97-95F9-8836BFC9313D}"/>
              </a:ext>
            </a:extLst>
          </p:cNvPr>
          <p:cNvSpPr>
            <a:spLocks noGrp="1"/>
          </p:cNvSpPr>
          <p:nvPr/>
        </p:nvSpPr>
        <p:spPr>
          <a:xfrm>
            <a:off x="171450" y="3238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ORIZON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6496516-F549-4456-AE12-F9BB5E71F3A1}"/>
              </a:ext>
            </a:extLst>
          </p:cNvPr>
          <p:cNvSpPr>
            <a:spLocks noGrp="1"/>
          </p:cNvSpPr>
          <p:nvPr/>
        </p:nvSpPr>
        <p:spPr>
          <a:xfrm>
            <a:off x="228600" y="742950"/>
            <a:ext cx="361950" cy="28575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DAF3208-2662-411F-9896-778B1FA87184}"/>
              </a:ext>
            </a:extLst>
          </p:cNvPr>
          <p:cNvSpPr>
            <a:spLocks noGrp="1"/>
          </p:cNvSpPr>
          <p:nvPr/>
        </p:nvSpPr>
        <p:spPr>
          <a:xfrm>
            <a:off x="1009650" y="304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04 | MÉTODO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B3EC8E7-89A1-46FF-8235-EB3A5DC076FC}"/>
              </a:ext>
            </a:extLst>
          </p:cNvPr>
          <p:cNvSpPr>
            <a:spLocks noGrp="1"/>
          </p:cNvSpPr>
          <p:nvPr/>
        </p:nvSpPr>
        <p:spPr>
          <a:xfrm>
            <a:off x="1009650" y="571500"/>
            <a:ext cx="838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A jornada assistida: Diagnosticar, Corrigir, Evoluir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B796599-BEF5-4C4D-803A-C3109EC519C4}"/>
              </a:ext>
            </a:extLst>
          </p:cNvPr>
          <p:cNvSpPr>
            <a:spLocks noGrp="1"/>
          </p:cNvSpPr>
          <p:nvPr/>
        </p:nvSpPr>
        <p:spPr>
          <a:xfrm>
            <a:off x="1009650" y="64008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Plataforma de evolução operacional agrícola | Diretoria e parceiros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2CAA1A3-713D-4C8E-8D4F-5E8E72500B40}"/>
              </a:ext>
            </a:extLst>
          </p:cNvPr>
          <p:cNvSpPr>
            <a:spLocks noGrp="1"/>
          </p:cNvSpPr>
          <p:nvPr/>
        </p:nvSpPr>
        <p:spPr>
          <a:xfrm>
            <a:off x="1238250" y="1790700"/>
            <a:ext cx="285750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1144793-65B0-428D-BFF7-C884BA971272}"/>
              </a:ext>
            </a:extLst>
          </p:cNvPr>
          <p:cNvSpPr>
            <a:spLocks noGrp="1"/>
          </p:cNvSpPr>
          <p:nvPr/>
        </p:nvSpPr>
        <p:spPr>
          <a:xfrm>
            <a:off x="1428750" y="1981200"/>
            <a:ext cx="342900" cy="34290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CD1060D-E621-401A-9B93-42A21586E761}"/>
              </a:ext>
            </a:extLst>
          </p:cNvPr>
          <p:cNvSpPr>
            <a:spLocks noGrp="1"/>
          </p:cNvSpPr>
          <p:nvPr/>
        </p:nvSpPr>
        <p:spPr>
          <a:xfrm>
            <a:off x="1428750" y="203835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A1AA0D9-DB7F-4CA4-BC34-AE1F53CEC805}"/>
              </a:ext>
            </a:extLst>
          </p:cNvPr>
          <p:cNvSpPr>
            <a:spLocks noGrp="1"/>
          </p:cNvSpPr>
          <p:nvPr/>
        </p:nvSpPr>
        <p:spPr>
          <a:xfrm>
            <a:off x="1885950" y="1981200"/>
            <a:ext cx="2019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Diagnosticar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8A70BE2-3A90-41CF-97B3-9FF9C1A29292}"/>
              </a:ext>
            </a:extLst>
          </p:cNvPr>
          <p:cNvSpPr>
            <a:spLocks noGrp="1"/>
          </p:cNvSpPr>
          <p:nvPr/>
        </p:nvSpPr>
        <p:spPr>
          <a:xfrm>
            <a:off x="1428750" y="2419350"/>
            <a:ext cx="2476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Mapear gargalos operacionais com auditoria técnica, qualidade de aplicação, eficiência por frente, fotos, geolocalização e laudo.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A88FF02-65D6-469F-A1D9-37A7F16AC4E2}"/>
              </a:ext>
            </a:extLst>
          </p:cNvPr>
          <p:cNvSpPr>
            <a:spLocks noGrp="1"/>
          </p:cNvSpPr>
          <p:nvPr/>
        </p:nvSpPr>
        <p:spPr>
          <a:xfrm>
            <a:off x="4667250" y="1790700"/>
            <a:ext cx="285750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98C272F-2B27-4438-A993-5960CB7E9EA5}"/>
              </a:ext>
            </a:extLst>
          </p:cNvPr>
          <p:cNvSpPr>
            <a:spLocks noGrp="1"/>
          </p:cNvSpPr>
          <p:nvPr/>
        </p:nvSpPr>
        <p:spPr>
          <a:xfrm>
            <a:off x="4857750" y="1981200"/>
            <a:ext cx="342900" cy="3429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A5EB745-23F0-4F6C-9C62-9924B05260EA}"/>
              </a:ext>
            </a:extLst>
          </p:cNvPr>
          <p:cNvSpPr>
            <a:spLocks noGrp="1"/>
          </p:cNvSpPr>
          <p:nvPr/>
        </p:nvSpPr>
        <p:spPr>
          <a:xfrm>
            <a:off x="4857750" y="203835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DBE501E-9E4F-4C67-9B8D-63132B523A65}"/>
              </a:ext>
            </a:extLst>
          </p:cNvPr>
          <p:cNvSpPr>
            <a:spLocks noGrp="1"/>
          </p:cNvSpPr>
          <p:nvPr/>
        </p:nvSpPr>
        <p:spPr>
          <a:xfrm>
            <a:off x="5314950" y="1981200"/>
            <a:ext cx="2019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Corrigir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71F2D7A-9DF5-4D18-85A6-0FDE33EB2516}"/>
              </a:ext>
            </a:extLst>
          </p:cNvPr>
          <p:cNvSpPr>
            <a:spLocks noGrp="1"/>
          </p:cNvSpPr>
          <p:nvPr/>
        </p:nvSpPr>
        <p:spPr>
          <a:xfrm>
            <a:off x="4857750" y="2419350"/>
            <a:ext cx="2476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Converter achados em plano técnico, treinamento, padronização operacional, correção de desvios e nova aferição.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0011F40-93CF-4B6E-AD02-FAEB5DD42C6B}"/>
              </a:ext>
            </a:extLst>
          </p:cNvPr>
          <p:cNvSpPr>
            <a:spLocks noGrp="1"/>
          </p:cNvSpPr>
          <p:nvPr/>
        </p:nvSpPr>
        <p:spPr>
          <a:xfrm>
            <a:off x="8096250" y="1790700"/>
            <a:ext cx="285750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5EAB115-A171-415D-8D66-B255B1F9BDC1}"/>
              </a:ext>
            </a:extLst>
          </p:cNvPr>
          <p:cNvSpPr>
            <a:spLocks noGrp="1"/>
          </p:cNvSpPr>
          <p:nvPr/>
        </p:nvSpPr>
        <p:spPr>
          <a:xfrm>
            <a:off x="8286750" y="1981200"/>
            <a:ext cx="342900" cy="342900"/>
          </a:xfrm>
          <a:prstGeom prst="rect">
            <a:avLst/>
          </a:prstGeom>
          <a:solidFill>
            <a:srgbClr val="5D9B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DC0E7C2-BFC1-4788-9DE2-BA2119B9C99E}"/>
              </a:ext>
            </a:extLst>
          </p:cNvPr>
          <p:cNvSpPr>
            <a:spLocks noGrp="1"/>
          </p:cNvSpPr>
          <p:nvPr/>
        </p:nvSpPr>
        <p:spPr>
          <a:xfrm>
            <a:off x="8286750" y="203835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02D9C00-5904-44C4-9A63-ED7E8E838095}"/>
              </a:ext>
            </a:extLst>
          </p:cNvPr>
          <p:cNvSpPr>
            <a:spLocks noGrp="1"/>
          </p:cNvSpPr>
          <p:nvPr/>
        </p:nvSpPr>
        <p:spPr>
          <a:xfrm>
            <a:off x="8743950" y="1981200"/>
            <a:ext cx="2019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5D9B4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D9B47"/>
                </a:solidFill>
                <a:latin typeface="Aptos"/>
                <a:ea typeface="Aptos"/>
                <a:cs typeface="Aptos"/>
              </a:rPr>
              <a:t>Evoluir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DECF843-250A-462A-8C2E-CEC9AE7A06C6}"/>
              </a:ext>
            </a:extLst>
          </p:cNvPr>
          <p:cNvSpPr>
            <a:spLocks noGrp="1"/>
          </p:cNvSpPr>
          <p:nvPr/>
        </p:nvSpPr>
        <p:spPr>
          <a:xfrm>
            <a:off x="8286750" y="2419350"/>
            <a:ext cx="2476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Modernizar processos, sistemas, implementos e equipamentos quando a evidência comprovar limitação estrutural.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230D318-4FA0-4296-8761-9615706AFD99}"/>
              </a:ext>
            </a:extLst>
          </p:cNvPr>
          <p:cNvSpPr>
            <a:spLocks noGrp="1"/>
          </p:cNvSpPr>
          <p:nvPr/>
        </p:nvSpPr>
        <p:spPr>
          <a:xfrm>
            <a:off x="4095750" y="2524125"/>
            <a:ext cx="571500" cy="190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337433F-86A0-4A8C-B3A0-998AFFE54CBF}"/>
              </a:ext>
            </a:extLst>
          </p:cNvPr>
          <p:cNvSpPr>
            <a:spLocks noGrp="1"/>
          </p:cNvSpPr>
          <p:nvPr/>
        </p:nvSpPr>
        <p:spPr>
          <a:xfrm>
            <a:off x="4591050" y="2476500"/>
            <a:ext cx="95250" cy="952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6390648-1C42-48A2-B53E-6AFD076C101B}"/>
              </a:ext>
            </a:extLst>
          </p:cNvPr>
          <p:cNvSpPr>
            <a:spLocks noGrp="1"/>
          </p:cNvSpPr>
          <p:nvPr/>
        </p:nvSpPr>
        <p:spPr>
          <a:xfrm>
            <a:off x="7524750" y="2524125"/>
            <a:ext cx="571500" cy="190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AA77755-56E5-48C5-B543-234DC1D55C36}"/>
              </a:ext>
            </a:extLst>
          </p:cNvPr>
          <p:cNvSpPr>
            <a:spLocks noGrp="1"/>
          </p:cNvSpPr>
          <p:nvPr/>
        </p:nvSpPr>
        <p:spPr>
          <a:xfrm>
            <a:off x="8020050" y="2476500"/>
            <a:ext cx="95250" cy="952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B303D6D-13FF-4603-8CDF-CA4D8A18EE89}"/>
              </a:ext>
            </a:extLst>
          </p:cNvPr>
          <p:cNvSpPr>
            <a:spLocks noGrp="1"/>
          </p:cNvSpPr>
          <p:nvPr/>
        </p:nvSpPr>
        <p:spPr>
          <a:xfrm>
            <a:off x="1238250" y="4000500"/>
            <a:ext cx="9715500" cy="952500"/>
          </a:xfrm>
          <a:prstGeom prst="rect">
            <a:avLst/>
          </a:prstGeom>
          <a:solidFill>
            <a:srgbClr val="FBF3DD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590967D-46B4-47EB-BA9A-792FB8F18102}"/>
              </a:ext>
            </a:extLst>
          </p:cNvPr>
          <p:cNvSpPr>
            <a:spLocks noGrp="1"/>
          </p:cNvSpPr>
          <p:nvPr/>
        </p:nvSpPr>
        <p:spPr>
          <a:xfrm>
            <a:off x="1562100" y="4305300"/>
            <a:ext cx="895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83B66"/>
                </a:solidFill>
                <a:latin typeface="Aptos"/>
                <a:ea typeface="Aptos"/>
                <a:cs typeface="Aptos"/>
              </a:rPr>
              <a:t>Regra de ouro: ORIZON não subsidia compra. ORIZON financia evolução operacional assistida, com evidência técnica, plano aprovado e resultado mensurado.</a:t>
            </a:r>
          </a:p>
        </p:txBody>
      </p:sp>
    </p:spTree>
    <p:extLst>
      <p:ext uri="{BB962C8B-B14F-4D97-AF65-F5344CB8AC3E}">
        <p14:creationId xmlns:p14="http://schemas.microsoft.com/office/powerpoint/2010/main" val="135523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7CA151E6-6465-42EB-80A3-27A0324C42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F06E280-39DE-4747-8DB0-228A4A709D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19150" cy="685800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F872502-EEB6-439F-966B-F806D40A66CF}"/>
              </a:ext>
            </a:extLst>
          </p:cNvPr>
          <p:cNvSpPr>
            <a:spLocks noGrp="1"/>
          </p:cNvSpPr>
          <p:nvPr/>
        </p:nvSpPr>
        <p:spPr>
          <a:xfrm>
            <a:off x="171450" y="3238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ORIZON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9CE1161-04C7-4356-851F-73002E289BD7}"/>
              </a:ext>
            </a:extLst>
          </p:cNvPr>
          <p:cNvSpPr>
            <a:spLocks noGrp="1"/>
          </p:cNvSpPr>
          <p:nvPr/>
        </p:nvSpPr>
        <p:spPr>
          <a:xfrm>
            <a:off x="228600" y="742950"/>
            <a:ext cx="361950" cy="28575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49D094E-0FDE-443B-86C2-2E911F0B05F1}"/>
              </a:ext>
            </a:extLst>
          </p:cNvPr>
          <p:cNvSpPr>
            <a:spLocks noGrp="1"/>
          </p:cNvSpPr>
          <p:nvPr/>
        </p:nvSpPr>
        <p:spPr>
          <a:xfrm>
            <a:off x="1009650" y="304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05 | NÍVEIS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784C4DA-F97B-4FA7-8AB1-4143AD5504EA}"/>
              </a:ext>
            </a:extLst>
          </p:cNvPr>
          <p:cNvSpPr>
            <a:spLocks noGrp="1"/>
          </p:cNvSpPr>
          <p:nvPr/>
        </p:nvSpPr>
        <p:spPr>
          <a:xfrm>
            <a:off x="1009650" y="571500"/>
            <a:ext cx="838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Trilhas de maturidade: entrada por adoção tecnológica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8B1813C-8E40-49A7-8B1D-5CC9F9B20532}"/>
              </a:ext>
            </a:extLst>
          </p:cNvPr>
          <p:cNvSpPr>
            <a:spLocks noGrp="1"/>
          </p:cNvSpPr>
          <p:nvPr/>
        </p:nvSpPr>
        <p:spPr>
          <a:xfrm>
            <a:off x="1009650" y="64008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Plataforma de evolução operacional agrícola | Diretoria e parceiros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FA6A5DE-37A9-48CB-9D85-E6B903848582}"/>
              </a:ext>
            </a:extLst>
          </p:cNvPr>
          <p:cNvSpPr>
            <a:spLocks noGrp="1"/>
          </p:cNvSpPr>
          <p:nvPr/>
        </p:nvSpPr>
        <p:spPr>
          <a:xfrm>
            <a:off x="1123950" y="1828800"/>
            <a:ext cx="22098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8992026-2A48-454E-992A-5B09E0F6886D}"/>
              </a:ext>
            </a:extLst>
          </p:cNvPr>
          <p:cNvSpPr>
            <a:spLocks noGrp="1"/>
          </p:cNvSpPr>
          <p:nvPr/>
        </p:nvSpPr>
        <p:spPr>
          <a:xfrm>
            <a:off x="1123950" y="1828800"/>
            <a:ext cx="2209800" cy="952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7EB4379-7E0D-4B53-9C16-9697A370A986}"/>
              </a:ext>
            </a:extLst>
          </p:cNvPr>
          <p:cNvSpPr>
            <a:spLocks noGrp="1"/>
          </p:cNvSpPr>
          <p:nvPr/>
        </p:nvSpPr>
        <p:spPr>
          <a:xfrm>
            <a:off x="1314450" y="213360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54F89AB-65F7-4D2B-868A-C827A040C75A}"/>
              </a:ext>
            </a:extLst>
          </p:cNvPr>
          <p:cNvSpPr>
            <a:spLocks noGrp="1"/>
          </p:cNvSpPr>
          <p:nvPr/>
        </p:nvSpPr>
        <p:spPr>
          <a:xfrm>
            <a:off x="1314450" y="25527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Entrada assistida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F5AF83F-0CF5-4C20-98E7-AE70129B5B8C}"/>
              </a:ext>
            </a:extLst>
          </p:cNvPr>
          <p:cNvSpPr>
            <a:spLocks noGrp="1"/>
          </p:cNvSpPr>
          <p:nvPr/>
        </p:nvSpPr>
        <p:spPr>
          <a:xfrm>
            <a:off x="1314450" y="2990850"/>
            <a:ext cx="1790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Cadastro, diagnóstico inicial e tecnologia de entrada.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26E1BF6-9222-451A-8787-CF13275E974B}"/>
              </a:ext>
            </a:extLst>
          </p:cNvPr>
          <p:cNvSpPr>
            <a:spLocks noGrp="1"/>
          </p:cNvSpPr>
          <p:nvPr/>
        </p:nvSpPr>
        <p:spPr>
          <a:xfrm>
            <a:off x="3714750" y="1828800"/>
            <a:ext cx="22098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A1EB154-6DAF-4E9A-9068-58CB87E66C53}"/>
              </a:ext>
            </a:extLst>
          </p:cNvPr>
          <p:cNvSpPr>
            <a:spLocks noGrp="1"/>
          </p:cNvSpPr>
          <p:nvPr/>
        </p:nvSpPr>
        <p:spPr>
          <a:xfrm>
            <a:off x="3714750" y="1828800"/>
            <a:ext cx="2209800" cy="95250"/>
          </a:xfrm>
          <a:prstGeom prst="rect">
            <a:avLst/>
          </a:prstGeom>
          <a:solidFill>
            <a:srgbClr val="5D9B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E547165-6F6D-47BF-B783-3C88350F82FA}"/>
              </a:ext>
            </a:extLst>
          </p:cNvPr>
          <p:cNvSpPr>
            <a:spLocks noGrp="1"/>
          </p:cNvSpPr>
          <p:nvPr/>
        </p:nvSpPr>
        <p:spPr>
          <a:xfrm>
            <a:off x="3905250" y="213360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5D9B4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D9B47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71440E7-1610-4423-AE48-1D1C5E4B985E}"/>
              </a:ext>
            </a:extLst>
          </p:cNvPr>
          <p:cNvSpPr>
            <a:spLocks noGrp="1"/>
          </p:cNvSpPr>
          <p:nvPr/>
        </p:nvSpPr>
        <p:spPr>
          <a:xfrm>
            <a:off x="3905250" y="25527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Evolução contínua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BA206F3-ECEE-4FDE-9229-92C52763B0C1}"/>
              </a:ext>
            </a:extLst>
          </p:cNvPr>
          <p:cNvSpPr>
            <a:spLocks noGrp="1"/>
          </p:cNvSpPr>
          <p:nvPr/>
        </p:nvSpPr>
        <p:spPr>
          <a:xfrm>
            <a:off x="3905250" y="2990850"/>
            <a:ext cx="1790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Plano técnico, correções, acompanhamento e cadência.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46016DD-AD22-413B-9AFA-188DAF032B2B}"/>
              </a:ext>
            </a:extLst>
          </p:cNvPr>
          <p:cNvSpPr>
            <a:spLocks noGrp="1"/>
          </p:cNvSpPr>
          <p:nvPr/>
        </p:nvSpPr>
        <p:spPr>
          <a:xfrm>
            <a:off x="6305550" y="1828800"/>
            <a:ext cx="22098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18B713E-B249-4420-AD0C-D095815006E6}"/>
              </a:ext>
            </a:extLst>
          </p:cNvPr>
          <p:cNvSpPr>
            <a:spLocks noGrp="1"/>
          </p:cNvSpPr>
          <p:nvPr/>
        </p:nvSpPr>
        <p:spPr>
          <a:xfrm>
            <a:off x="6305550" y="1828800"/>
            <a:ext cx="2209800" cy="9525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77A8DB2-AE61-4B7C-9822-C4C2A13B14D4}"/>
              </a:ext>
            </a:extLst>
          </p:cNvPr>
          <p:cNvSpPr>
            <a:spLocks noGrp="1"/>
          </p:cNvSpPr>
          <p:nvPr/>
        </p:nvSpPr>
        <p:spPr>
          <a:xfrm>
            <a:off x="6496050" y="213360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PRIME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78D6CE4-71A1-426A-B514-FCF635B56CFA}"/>
              </a:ext>
            </a:extLst>
          </p:cNvPr>
          <p:cNvSpPr>
            <a:spLocks noGrp="1"/>
          </p:cNvSpPr>
          <p:nvPr/>
        </p:nvSpPr>
        <p:spPr>
          <a:xfrm>
            <a:off x="6496050" y="25527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Alta performance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7596F0E-10CD-485F-89DF-A6C7C510435F}"/>
              </a:ext>
            </a:extLst>
          </p:cNvPr>
          <p:cNvSpPr>
            <a:spLocks noGrp="1"/>
          </p:cNvSpPr>
          <p:nvPr/>
        </p:nvSpPr>
        <p:spPr>
          <a:xfrm>
            <a:off x="6496050" y="2990850"/>
            <a:ext cx="1790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Projetos aprovados, budget governado e expansão técnica.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F614A2E-2655-4E44-AB61-AD218EA5F9F1}"/>
              </a:ext>
            </a:extLst>
          </p:cNvPr>
          <p:cNvSpPr>
            <a:spLocks noGrp="1"/>
          </p:cNvSpPr>
          <p:nvPr/>
        </p:nvSpPr>
        <p:spPr>
          <a:xfrm>
            <a:off x="8896350" y="1828800"/>
            <a:ext cx="22098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12FC565-5F2A-44A8-8044-5C03CB2B8317}"/>
              </a:ext>
            </a:extLst>
          </p:cNvPr>
          <p:cNvSpPr>
            <a:spLocks noGrp="1"/>
          </p:cNvSpPr>
          <p:nvPr/>
        </p:nvSpPr>
        <p:spPr>
          <a:xfrm>
            <a:off x="8896350" y="1828800"/>
            <a:ext cx="2209800" cy="9525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5C751AE-66A5-4E26-8796-09BE92C7C89C}"/>
              </a:ext>
            </a:extLst>
          </p:cNvPr>
          <p:cNvSpPr>
            <a:spLocks noGrp="1"/>
          </p:cNvSpPr>
          <p:nvPr/>
        </p:nvSpPr>
        <p:spPr>
          <a:xfrm>
            <a:off x="9086850" y="213360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LEGACY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3D261E8-15B4-4BFD-96BF-A31448B5B58D}"/>
              </a:ext>
            </a:extLst>
          </p:cNvPr>
          <p:cNvSpPr>
            <a:spLocks noGrp="1"/>
          </p:cNvSpPr>
          <p:nvPr/>
        </p:nvSpPr>
        <p:spPr>
          <a:xfrm>
            <a:off x="9086850" y="25527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Parceria estratégica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42D5258-2A4A-4E0A-B5B2-4D6E185FE108}"/>
              </a:ext>
            </a:extLst>
          </p:cNvPr>
          <p:cNvSpPr>
            <a:spLocks noGrp="1"/>
          </p:cNvSpPr>
          <p:nvPr/>
        </p:nvSpPr>
        <p:spPr>
          <a:xfrm>
            <a:off x="9086850" y="2990850"/>
            <a:ext cx="1790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Visão multi-ano, comitê executivo e escala por grupo.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52E8506-B305-49CE-8E4A-E3BB07645ADD}"/>
              </a:ext>
            </a:extLst>
          </p:cNvPr>
          <p:cNvSpPr>
            <a:spLocks noGrp="1"/>
          </p:cNvSpPr>
          <p:nvPr/>
        </p:nvSpPr>
        <p:spPr>
          <a:xfrm>
            <a:off x="1123950" y="4591050"/>
            <a:ext cx="98488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C664310-3722-42C4-87D0-88BFC49F6905}"/>
              </a:ext>
            </a:extLst>
          </p:cNvPr>
          <p:cNvSpPr>
            <a:spLocks noGrp="1"/>
          </p:cNvSpPr>
          <p:nvPr/>
        </p:nvSpPr>
        <p:spPr>
          <a:xfrm>
            <a:off x="1390650" y="4819650"/>
            <a:ext cx="895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Mudança de nível exige evidência, score, plano técnico e governança. Volume ajuda a priorizar, mas não substitui maturidade operacional.</a:t>
            </a:r>
          </a:p>
        </p:txBody>
      </p:sp>
    </p:spTree>
    <p:extLst>
      <p:ext uri="{BB962C8B-B14F-4D97-AF65-F5344CB8AC3E}">
        <p14:creationId xmlns:p14="http://schemas.microsoft.com/office/powerpoint/2010/main" val="536841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17314BAE-E7C2-4CA9-9E55-5A1A9858F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EE6FC08-DB3E-42C4-BFAB-6D102F0840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19150" cy="685800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7F2A221-5E9B-45DA-94BA-71C38675C715}"/>
              </a:ext>
            </a:extLst>
          </p:cNvPr>
          <p:cNvSpPr>
            <a:spLocks noGrp="1"/>
          </p:cNvSpPr>
          <p:nvPr/>
        </p:nvSpPr>
        <p:spPr>
          <a:xfrm>
            <a:off x="171450" y="3238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ORIZON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7DB44D7-CA70-4F7C-AA5B-BB193B9387FE}"/>
              </a:ext>
            </a:extLst>
          </p:cNvPr>
          <p:cNvSpPr>
            <a:spLocks noGrp="1"/>
          </p:cNvSpPr>
          <p:nvPr/>
        </p:nvSpPr>
        <p:spPr>
          <a:xfrm>
            <a:off x="228600" y="742950"/>
            <a:ext cx="361950" cy="28575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0F3E246-B5BC-4D96-AC98-C922F5BA5DCE}"/>
              </a:ext>
            </a:extLst>
          </p:cNvPr>
          <p:cNvSpPr>
            <a:spLocks noGrp="1"/>
          </p:cNvSpPr>
          <p:nvPr/>
        </p:nvSpPr>
        <p:spPr>
          <a:xfrm>
            <a:off x="1009650" y="304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06 | POLÍTICA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80D3DE2-CB33-495B-A9C8-789AA42828D2}"/>
              </a:ext>
            </a:extLst>
          </p:cNvPr>
          <p:cNvSpPr>
            <a:spLocks noGrp="1"/>
          </p:cNvSpPr>
          <p:nvPr/>
        </p:nvSpPr>
        <p:spPr>
          <a:xfrm>
            <a:off x="1009650" y="571500"/>
            <a:ext cx="838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Crédito ORIZON: budget técnico-operacional, não desconto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B89425D-12DA-4315-9886-76DAAC1B4A56}"/>
              </a:ext>
            </a:extLst>
          </p:cNvPr>
          <p:cNvSpPr>
            <a:spLocks noGrp="1"/>
          </p:cNvSpPr>
          <p:nvPr/>
        </p:nvSpPr>
        <p:spPr>
          <a:xfrm>
            <a:off x="1009650" y="64008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Plataforma de evolução operacional agrícola | Diretoria e parceiros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E4ACBE5-FE5C-4A1F-BA78-659109AC431B}"/>
              </a:ext>
            </a:extLst>
          </p:cNvPr>
          <p:cNvSpPr>
            <a:spLocks noGrp="1"/>
          </p:cNvSpPr>
          <p:nvPr/>
        </p:nvSpPr>
        <p:spPr>
          <a:xfrm>
            <a:off x="1123950" y="1447800"/>
            <a:ext cx="4476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4EB69F6-D6E1-4547-82ED-25A06ABC5A94}"/>
              </a:ext>
            </a:extLst>
          </p:cNvPr>
          <p:cNvSpPr>
            <a:spLocks noGrp="1"/>
          </p:cNvSpPr>
          <p:nvPr/>
        </p:nvSpPr>
        <p:spPr>
          <a:xfrm>
            <a:off x="1409700" y="175260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LÓGICA DO CÁLCULO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19E5156-DEAE-45EF-AC69-5A3019FEB817}"/>
              </a:ext>
            </a:extLst>
          </p:cNvPr>
          <p:cNvSpPr>
            <a:spLocks noGrp="1"/>
          </p:cNvSpPr>
          <p:nvPr/>
        </p:nvSpPr>
        <p:spPr>
          <a:xfrm>
            <a:off x="1409700" y="22383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5F65155-3518-4729-BD50-A47941E3FB95}"/>
              </a:ext>
            </a:extLst>
          </p:cNvPr>
          <p:cNvSpPr>
            <a:spLocks noGrp="1"/>
          </p:cNvSpPr>
          <p:nvPr/>
        </p:nvSpPr>
        <p:spPr>
          <a:xfrm>
            <a:off x="1600200" y="2171700"/>
            <a:ext cx="342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Volume em L ou Kg.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B5A84E8-30C8-41DC-A076-FCB24C202A29}"/>
              </a:ext>
            </a:extLst>
          </p:cNvPr>
          <p:cNvSpPr>
            <a:spLocks noGrp="1"/>
          </p:cNvSpPr>
          <p:nvPr/>
        </p:nvSpPr>
        <p:spPr>
          <a:xfrm>
            <a:off x="1409700" y="26193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8C57666-53FF-493F-BA13-BB30B5304D89}"/>
              </a:ext>
            </a:extLst>
          </p:cNvPr>
          <p:cNvSpPr>
            <a:spLocks noGrp="1"/>
          </p:cNvSpPr>
          <p:nvPr/>
        </p:nvSpPr>
        <p:spPr>
          <a:xfrm>
            <a:off x="1600200" y="2552700"/>
            <a:ext cx="342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Dose técnica e dose base da categoria.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FEE331D-0ECE-4367-BAB3-68A3F1C9EE02}"/>
              </a:ext>
            </a:extLst>
          </p:cNvPr>
          <p:cNvSpPr>
            <a:spLocks noGrp="1"/>
          </p:cNvSpPr>
          <p:nvPr/>
        </p:nvSpPr>
        <p:spPr>
          <a:xfrm>
            <a:off x="1409700" y="30003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559E3D6-A12A-4866-8638-4C983CC2FF62}"/>
              </a:ext>
            </a:extLst>
          </p:cNvPr>
          <p:cNvSpPr>
            <a:spLocks noGrp="1"/>
          </p:cNvSpPr>
          <p:nvPr/>
        </p:nvSpPr>
        <p:spPr>
          <a:xfrm>
            <a:off x="1600200" y="2933700"/>
            <a:ext cx="342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Peso ORIZON por produto.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6CB8B9D-80BE-41F9-8F05-68BF3CA9405E}"/>
              </a:ext>
            </a:extLst>
          </p:cNvPr>
          <p:cNvSpPr>
            <a:spLocks noGrp="1"/>
          </p:cNvSpPr>
          <p:nvPr/>
        </p:nvSpPr>
        <p:spPr>
          <a:xfrm>
            <a:off x="1409700" y="33813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F94385B-5F7B-424E-9DDC-BE6DF5E36C65}"/>
              </a:ext>
            </a:extLst>
          </p:cNvPr>
          <p:cNvSpPr>
            <a:spLocks noGrp="1"/>
          </p:cNvSpPr>
          <p:nvPr/>
        </p:nvSpPr>
        <p:spPr>
          <a:xfrm>
            <a:off x="1600200" y="3314700"/>
            <a:ext cx="342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Teto absoluto de R$ 10,00 por L/Kg.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7D6AA81-6537-4506-AD9A-BA856300B976}"/>
              </a:ext>
            </a:extLst>
          </p:cNvPr>
          <p:cNvSpPr>
            <a:spLocks noGrp="1"/>
          </p:cNvSpPr>
          <p:nvPr/>
        </p:nvSpPr>
        <p:spPr>
          <a:xfrm>
            <a:off x="1409700" y="37623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CCEF627-9612-4517-BE6B-8DAD6EA519F0}"/>
              </a:ext>
            </a:extLst>
          </p:cNvPr>
          <p:cNvSpPr>
            <a:spLocks noGrp="1"/>
          </p:cNvSpPr>
          <p:nvPr/>
        </p:nvSpPr>
        <p:spPr>
          <a:xfrm>
            <a:off x="1600200" y="3695700"/>
            <a:ext cx="342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Produtos B2B com peso 1 geram crédito zero.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DBC989D-84C2-459D-BF78-5105261B9E94}"/>
              </a:ext>
            </a:extLst>
          </p:cNvPr>
          <p:cNvSpPr>
            <a:spLocks noGrp="1"/>
          </p:cNvSpPr>
          <p:nvPr/>
        </p:nvSpPr>
        <p:spPr>
          <a:xfrm>
            <a:off x="6172200" y="1447800"/>
            <a:ext cx="4762500" cy="2857500"/>
          </a:xfrm>
          <a:prstGeom prst="rect">
            <a:avLst/>
          </a:prstGeom>
          <a:solidFill>
            <a:srgbClr val="E7F0F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3FFADC9-283D-4DAC-BAB2-8425F1CE49F0}"/>
              </a:ext>
            </a:extLst>
          </p:cNvPr>
          <p:cNvSpPr>
            <a:spLocks noGrp="1"/>
          </p:cNvSpPr>
          <p:nvPr/>
        </p:nvSpPr>
        <p:spPr>
          <a:xfrm>
            <a:off x="6457950" y="17526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GOVERNANÇA DE LIBERAÇÃO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D82E968-A47A-4FCC-BADB-028F6AA0FB04}"/>
              </a:ext>
            </a:extLst>
          </p:cNvPr>
          <p:cNvSpPr>
            <a:spLocks noGrp="1"/>
          </p:cNvSpPr>
          <p:nvPr/>
        </p:nvSpPr>
        <p:spPr>
          <a:xfrm>
            <a:off x="6457950" y="22383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DF06FE5-C3E0-4620-BECD-0BEAB3EFDF17}"/>
              </a:ext>
            </a:extLst>
          </p:cNvPr>
          <p:cNvSpPr>
            <a:spLocks noGrp="1"/>
          </p:cNvSpPr>
          <p:nvPr/>
        </p:nvSpPr>
        <p:spPr>
          <a:xfrm>
            <a:off x="6648450" y="2171700"/>
            <a:ext cx="366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Crédito calculado é recomendado, não automaticamente concedido.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FB55E69-37DE-4B3F-9AC8-414B86FE3455}"/>
              </a:ext>
            </a:extLst>
          </p:cNvPr>
          <p:cNvSpPr>
            <a:spLocks noGrp="1"/>
          </p:cNvSpPr>
          <p:nvPr/>
        </p:nvSpPr>
        <p:spPr>
          <a:xfrm>
            <a:off x="6457950" y="26955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EAB4E00-8787-4CDD-A33C-1114B21CC0C0}"/>
              </a:ext>
            </a:extLst>
          </p:cNvPr>
          <p:cNvSpPr>
            <a:spLocks noGrp="1"/>
          </p:cNvSpPr>
          <p:nvPr/>
        </p:nvSpPr>
        <p:spPr>
          <a:xfrm>
            <a:off x="6648450" y="2628900"/>
            <a:ext cx="366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PRIME e LEGACY exigem plano técnico e aprovação.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58100D04-3300-4C59-BEA1-BCC617F56C2E}"/>
              </a:ext>
            </a:extLst>
          </p:cNvPr>
          <p:cNvSpPr>
            <a:spLocks noGrp="1"/>
          </p:cNvSpPr>
          <p:nvPr/>
        </p:nvSpPr>
        <p:spPr>
          <a:xfrm>
            <a:off x="6457950" y="31527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B014C96E-9A52-43CD-BD94-919196096C52}"/>
              </a:ext>
            </a:extLst>
          </p:cNvPr>
          <p:cNvSpPr>
            <a:spLocks noGrp="1"/>
          </p:cNvSpPr>
          <p:nvPr/>
        </p:nvSpPr>
        <p:spPr>
          <a:xfrm>
            <a:off x="6648450" y="3086100"/>
            <a:ext cx="366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Alteração de peso de produto exige justificativa técnica.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45F52B55-1BAB-4D79-82D8-4A89FEC941E4}"/>
              </a:ext>
            </a:extLst>
          </p:cNvPr>
          <p:cNvSpPr>
            <a:spLocks noGrp="1"/>
          </p:cNvSpPr>
          <p:nvPr/>
        </p:nvSpPr>
        <p:spPr>
          <a:xfrm>
            <a:off x="6457950" y="36099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FF882183-C1AA-4798-B126-C7F37B9B13C4}"/>
              </a:ext>
            </a:extLst>
          </p:cNvPr>
          <p:cNvSpPr>
            <a:spLocks noGrp="1"/>
          </p:cNvSpPr>
          <p:nvPr/>
        </p:nvSpPr>
        <p:spPr>
          <a:xfrm>
            <a:off x="6648450" y="3543300"/>
            <a:ext cx="366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Budget aprovado precisa de marco, responsável e evidência.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71D451F5-599A-4ACB-8A4B-7C0D962DE71A}"/>
              </a:ext>
            </a:extLst>
          </p:cNvPr>
          <p:cNvSpPr>
            <a:spLocks noGrp="1"/>
          </p:cNvSpPr>
          <p:nvPr/>
        </p:nvSpPr>
        <p:spPr>
          <a:xfrm>
            <a:off x="1123950" y="4781550"/>
            <a:ext cx="9810750" cy="552450"/>
          </a:xfrm>
          <a:prstGeom prst="rect">
            <a:avLst/>
          </a:prstGeom>
          <a:solidFill>
            <a:srgbClr val="FFF7ED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AAECC716-914F-467A-ABA2-81F9CDBC2A64}"/>
              </a:ext>
            </a:extLst>
          </p:cNvPr>
          <p:cNvSpPr>
            <a:spLocks noGrp="1"/>
          </p:cNvSpPr>
          <p:nvPr/>
        </p:nvSpPr>
        <p:spPr>
          <a:xfrm>
            <a:off x="1409700" y="495300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36F21"/>
                </a:solidFill>
                <a:latin typeface="Aptos"/>
                <a:ea typeface="Aptos"/>
                <a:cs typeface="Aptos"/>
              </a:rPr>
              <a:t>Mensagem comercial: o cliente acessa investimento operacional elegível quando evolui tecnicamente dentro da trilha ORIZON.</a:t>
            </a:r>
          </a:p>
        </p:txBody>
      </p:sp>
    </p:spTree>
    <p:extLst>
      <p:ext uri="{BB962C8B-B14F-4D97-AF65-F5344CB8AC3E}">
        <p14:creationId xmlns:p14="http://schemas.microsoft.com/office/powerpoint/2010/main" val="783313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80C80D78-C222-46B2-8287-6F30DCC5FE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AF695F5-307A-4F9A-A37F-AA4695BCD7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19150" cy="685800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CD6B670-7108-4F16-B5D4-C3079AAC9EC3}"/>
              </a:ext>
            </a:extLst>
          </p:cNvPr>
          <p:cNvSpPr>
            <a:spLocks noGrp="1"/>
          </p:cNvSpPr>
          <p:nvPr/>
        </p:nvSpPr>
        <p:spPr>
          <a:xfrm>
            <a:off x="171450" y="3238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ORIZON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0E3E416-1460-46B4-BE77-26D048BFEB63}"/>
              </a:ext>
            </a:extLst>
          </p:cNvPr>
          <p:cNvSpPr>
            <a:spLocks noGrp="1"/>
          </p:cNvSpPr>
          <p:nvPr/>
        </p:nvSpPr>
        <p:spPr>
          <a:xfrm>
            <a:off x="228600" y="742950"/>
            <a:ext cx="361950" cy="28575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A50BF07-1DB6-4750-8883-CC31300F50F9}"/>
              </a:ext>
            </a:extLst>
          </p:cNvPr>
          <p:cNvSpPr>
            <a:spLocks noGrp="1"/>
          </p:cNvSpPr>
          <p:nvPr/>
        </p:nvSpPr>
        <p:spPr>
          <a:xfrm>
            <a:off x="1009650" y="304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07 | OPERAÇÃO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3034289-6DBA-4A3A-A06E-EEAD67BF44BE}"/>
              </a:ext>
            </a:extLst>
          </p:cNvPr>
          <p:cNvSpPr>
            <a:spLocks noGrp="1"/>
          </p:cNvSpPr>
          <p:nvPr/>
        </p:nvSpPr>
        <p:spPr>
          <a:xfrm>
            <a:off x="1009650" y="571500"/>
            <a:ext cx="838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Passo a passo de implantação por cliente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8CA6A-0569-49C7-914A-27D3965CDDEA}"/>
              </a:ext>
            </a:extLst>
          </p:cNvPr>
          <p:cNvSpPr>
            <a:spLocks noGrp="1"/>
          </p:cNvSpPr>
          <p:nvPr/>
        </p:nvSpPr>
        <p:spPr>
          <a:xfrm>
            <a:off x="1009650" y="64008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Plataforma de evolução operacional agrícola | Diretoria e parceiros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F0C533D-18C7-49A6-8A0F-FDAAD16C4F86}"/>
              </a:ext>
            </a:extLst>
          </p:cNvPr>
          <p:cNvSpPr>
            <a:spLocks noGrp="1"/>
          </p:cNvSpPr>
          <p:nvPr/>
        </p:nvSpPr>
        <p:spPr>
          <a:xfrm>
            <a:off x="1143000" y="1543050"/>
            <a:ext cx="28575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9956D24-E4E5-4501-AC5E-65F8CA285EB7}"/>
              </a:ext>
            </a:extLst>
          </p:cNvPr>
          <p:cNvSpPr>
            <a:spLocks noGrp="1"/>
          </p:cNvSpPr>
          <p:nvPr/>
        </p:nvSpPr>
        <p:spPr>
          <a:xfrm>
            <a:off x="1352550" y="175260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1. Mapear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4CEE794-C76B-4D8D-B744-233E8E1166AB}"/>
              </a:ext>
            </a:extLst>
          </p:cNvPr>
          <p:cNvSpPr>
            <a:spLocks noGrp="1"/>
          </p:cNvSpPr>
          <p:nvPr/>
        </p:nvSpPr>
        <p:spPr>
          <a:xfrm>
            <a:off x="1352550" y="2133600"/>
            <a:ext cx="2333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Conta, área, potencial, produtos, histórico e responsável.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917AD25-8BE8-446F-8BC9-7B7C43D61F12}"/>
              </a:ext>
            </a:extLst>
          </p:cNvPr>
          <p:cNvSpPr>
            <a:spLocks noGrp="1"/>
          </p:cNvSpPr>
          <p:nvPr/>
        </p:nvSpPr>
        <p:spPr>
          <a:xfrm>
            <a:off x="4476750" y="1543050"/>
            <a:ext cx="28575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E7757CF-7A60-47FF-AA06-622E82E9F5B0}"/>
              </a:ext>
            </a:extLst>
          </p:cNvPr>
          <p:cNvSpPr>
            <a:spLocks noGrp="1"/>
          </p:cNvSpPr>
          <p:nvPr/>
        </p:nvSpPr>
        <p:spPr>
          <a:xfrm>
            <a:off x="4686300" y="175260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2. Diagnosticar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E549C90-3ABF-48F0-BA30-98E648D26010}"/>
              </a:ext>
            </a:extLst>
          </p:cNvPr>
          <p:cNvSpPr>
            <a:spLocks noGrp="1"/>
          </p:cNvSpPr>
          <p:nvPr/>
        </p:nvSpPr>
        <p:spPr>
          <a:xfrm>
            <a:off x="4686300" y="2133600"/>
            <a:ext cx="2333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Gargalo técnico, etapa assistida e evidências TCH quando aplicável.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553D08C-DFF1-4088-965F-C0DFF4504669}"/>
              </a:ext>
            </a:extLst>
          </p:cNvPr>
          <p:cNvSpPr>
            <a:spLocks noGrp="1"/>
          </p:cNvSpPr>
          <p:nvPr/>
        </p:nvSpPr>
        <p:spPr>
          <a:xfrm>
            <a:off x="7810500" y="1543050"/>
            <a:ext cx="28575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E6D8A68-F310-4C9C-B622-9A1C903003CC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3. Pontuar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228F2B4-8250-4ECA-98ED-2D78B30D2FA6}"/>
              </a:ext>
            </a:extLst>
          </p:cNvPr>
          <p:cNvSpPr>
            <a:spLocks noGrp="1"/>
          </p:cNvSpPr>
          <p:nvPr/>
        </p:nvSpPr>
        <p:spPr>
          <a:xfrm>
            <a:off x="8020050" y="2133600"/>
            <a:ext cx="2333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OPI, ICP, categoria, score de adoção e nível ORIZON.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B7AA0B4-D6A2-4FFF-8C5D-1DF7C0F3330B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28575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659309B-1992-43EB-9AD1-888CE2B8864B}"/>
              </a:ext>
            </a:extLst>
          </p:cNvPr>
          <p:cNvSpPr>
            <a:spLocks noGrp="1"/>
          </p:cNvSpPr>
          <p:nvPr/>
        </p:nvSpPr>
        <p:spPr>
          <a:xfrm>
            <a:off x="1352550" y="356235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D9B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D9B47"/>
                </a:solidFill>
                <a:latin typeface="Aptos"/>
                <a:ea typeface="Aptos"/>
                <a:cs typeface="Aptos"/>
              </a:rPr>
              <a:t>4. Aprovar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4EB8721-8A61-4151-B56D-10DD736F1DA1}"/>
              </a:ext>
            </a:extLst>
          </p:cNvPr>
          <p:cNvSpPr>
            <a:spLocks noGrp="1"/>
          </p:cNvSpPr>
          <p:nvPr/>
        </p:nvSpPr>
        <p:spPr>
          <a:xfrm>
            <a:off x="1352550" y="3943350"/>
            <a:ext cx="2333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Plano técnico, budget, alçada, assinatura e marco de entrega.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143B54F-E0E6-4C4A-8B65-31E2CFC7140E}"/>
              </a:ext>
            </a:extLst>
          </p:cNvPr>
          <p:cNvSpPr>
            <a:spLocks noGrp="1"/>
          </p:cNvSpPr>
          <p:nvPr/>
        </p:nvSpPr>
        <p:spPr>
          <a:xfrm>
            <a:off x="4476750" y="3352800"/>
            <a:ext cx="28575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F268548-925D-42E0-BCC1-E547BC5741DC}"/>
              </a:ext>
            </a:extLst>
          </p:cNvPr>
          <p:cNvSpPr>
            <a:spLocks noGrp="1"/>
          </p:cNvSpPr>
          <p:nvPr/>
        </p:nvSpPr>
        <p:spPr>
          <a:xfrm>
            <a:off x="4686300" y="356235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D9B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D9B47"/>
                </a:solidFill>
                <a:latin typeface="Aptos"/>
                <a:ea typeface="Aptos"/>
                <a:cs typeface="Aptos"/>
              </a:rPr>
              <a:t>5. Executar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67EAF76-BF18-4354-BDF9-B99347C1B9BB}"/>
              </a:ext>
            </a:extLst>
          </p:cNvPr>
          <p:cNvSpPr>
            <a:spLocks noGrp="1"/>
          </p:cNvSpPr>
          <p:nvPr/>
        </p:nvSpPr>
        <p:spPr>
          <a:xfrm>
            <a:off x="4686300" y="3943350"/>
            <a:ext cx="2333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Treinamento, correção, aplicação, equipamento ou acompanhamento.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C58EC64-A7F3-4EF5-8D39-97FB15840B3D}"/>
              </a:ext>
            </a:extLst>
          </p:cNvPr>
          <p:cNvSpPr>
            <a:spLocks noGrp="1"/>
          </p:cNvSpPr>
          <p:nvPr/>
        </p:nvSpPr>
        <p:spPr>
          <a:xfrm>
            <a:off x="7810500" y="3352800"/>
            <a:ext cx="28575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1D0B3AF-1D9F-43FB-8B47-8A5E30F26D29}"/>
              </a:ext>
            </a:extLst>
          </p:cNvPr>
          <p:cNvSpPr>
            <a:spLocks noGrp="1"/>
          </p:cNvSpPr>
          <p:nvPr/>
        </p:nvSpPr>
        <p:spPr>
          <a:xfrm>
            <a:off x="8020050" y="356235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D9B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D9B47"/>
                </a:solidFill>
                <a:latin typeface="Aptos"/>
                <a:ea typeface="Aptos"/>
                <a:cs typeface="Aptos"/>
              </a:rPr>
              <a:t>6. Medir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2AEA58C-3E5F-4FF3-9FD2-A091997159A6}"/>
              </a:ext>
            </a:extLst>
          </p:cNvPr>
          <p:cNvSpPr>
            <a:spLocks noGrp="1"/>
          </p:cNvSpPr>
          <p:nvPr/>
        </p:nvSpPr>
        <p:spPr>
          <a:xfrm>
            <a:off x="8020050" y="3943350"/>
            <a:ext cx="2333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Evolution Report, indicadores, ROI técnico e próxima onda.</a:t>
            </a:r>
          </a:p>
        </p:txBody>
      </p:sp>
    </p:spTree>
    <p:extLst>
      <p:ext uri="{BB962C8B-B14F-4D97-AF65-F5344CB8AC3E}">
        <p14:creationId xmlns:p14="http://schemas.microsoft.com/office/powerpoint/2010/main" val="1397156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6A3ED264-A18E-4755-B390-8D9ACEE1CB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DC03084-0E95-4341-A5BC-63B704FBB4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19150" cy="685800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23D0893-12B9-49E8-902F-DFBDA0307320}"/>
              </a:ext>
            </a:extLst>
          </p:cNvPr>
          <p:cNvSpPr>
            <a:spLocks noGrp="1"/>
          </p:cNvSpPr>
          <p:nvPr/>
        </p:nvSpPr>
        <p:spPr>
          <a:xfrm>
            <a:off x="171450" y="3238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ORIZON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356FB9-2E4C-4C6C-A5D1-34ED5A4005C4}"/>
              </a:ext>
            </a:extLst>
          </p:cNvPr>
          <p:cNvSpPr>
            <a:spLocks noGrp="1"/>
          </p:cNvSpPr>
          <p:nvPr/>
        </p:nvSpPr>
        <p:spPr>
          <a:xfrm>
            <a:off x="228600" y="742950"/>
            <a:ext cx="361950" cy="28575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BD601EB-0537-4B1A-8854-539857430CFF}"/>
              </a:ext>
            </a:extLst>
          </p:cNvPr>
          <p:cNvSpPr>
            <a:spLocks noGrp="1"/>
          </p:cNvSpPr>
          <p:nvPr/>
        </p:nvSpPr>
        <p:spPr>
          <a:xfrm>
            <a:off x="1009650" y="304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08 | TCH + MAIS MÁQUINAS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20A9347-76CD-46AE-80C6-3E6E0A38D2E1}"/>
              </a:ext>
            </a:extLst>
          </p:cNvPr>
          <p:cNvSpPr>
            <a:spLocks noGrp="1"/>
          </p:cNvSpPr>
          <p:nvPr/>
        </p:nvSpPr>
        <p:spPr>
          <a:xfrm>
            <a:off x="1009650" y="571500"/>
            <a:ext cx="838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Parceiros: progressão técnica sem conflito comercial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56347F9-609E-4127-A203-68DCB09A8A91}"/>
              </a:ext>
            </a:extLst>
          </p:cNvPr>
          <p:cNvSpPr>
            <a:spLocks noGrp="1"/>
          </p:cNvSpPr>
          <p:nvPr/>
        </p:nvSpPr>
        <p:spPr>
          <a:xfrm>
            <a:off x="1009650" y="64008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Plataforma de evolução operacional agrícola | Diretoria e parceiros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8AB5AB7-24A3-42D0-84E2-A72D73ADEEFC}"/>
              </a:ext>
            </a:extLst>
          </p:cNvPr>
          <p:cNvSpPr>
            <a:spLocks noGrp="1"/>
          </p:cNvSpPr>
          <p:nvPr/>
        </p:nvSpPr>
        <p:spPr>
          <a:xfrm>
            <a:off x="1123950" y="1581150"/>
            <a:ext cx="4524375" cy="3143250"/>
          </a:xfrm>
          <a:prstGeom prst="rect">
            <a:avLst/>
          </a:prstGeom>
          <a:solidFill>
            <a:srgbClr val="E7F0F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Gráfico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409700" y="1866900"/>
            <a:ext cx="266700" cy="26670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0A27FE1A-9EC7-4FEB-838D-98DD4AD2F6E2}"/>
              </a:ext>
            </a:extLst>
          </p:cNvPr>
          <p:cNvSpPr>
            <a:spLocks noGrp="1"/>
          </p:cNvSpPr>
          <p:nvPr/>
        </p:nvSpPr>
        <p:spPr>
          <a:xfrm>
            <a:off x="1809750" y="18669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TCH | braço técnico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6B18941-0D8F-4F28-94C6-767A0BAD4928}"/>
              </a:ext>
            </a:extLst>
          </p:cNvPr>
          <p:cNvSpPr>
            <a:spLocks noGrp="1"/>
          </p:cNvSpPr>
          <p:nvPr/>
        </p:nvSpPr>
        <p:spPr>
          <a:xfrm>
            <a:off x="1428750" y="24669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5D81404-FC75-40A4-8E5B-44D505DF55D6}"/>
              </a:ext>
            </a:extLst>
          </p:cNvPr>
          <p:cNvSpPr>
            <a:spLocks noGrp="1"/>
          </p:cNvSpPr>
          <p:nvPr/>
        </p:nvSpPr>
        <p:spPr>
          <a:xfrm>
            <a:off x="1619250" y="240030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Auditoria técnica, aplicativo, fotos e geolocalização.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26521B2-4EB6-4E19-8D46-5AED6C240FD3}"/>
              </a:ext>
            </a:extLst>
          </p:cNvPr>
          <p:cNvSpPr>
            <a:spLocks noGrp="1"/>
          </p:cNvSpPr>
          <p:nvPr/>
        </p:nvSpPr>
        <p:spPr>
          <a:xfrm>
            <a:off x="1428750" y="290512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472F320-8C4F-4CFE-B862-87A56CCCEDE7}"/>
              </a:ext>
            </a:extLst>
          </p:cNvPr>
          <p:cNvSpPr>
            <a:spLocks noGrp="1"/>
          </p:cNvSpPr>
          <p:nvPr/>
        </p:nvSpPr>
        <p:spPr>
          <a:xfrm>
            <a:off x="1619250" y="28384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Laudos por operação: aplicação, plantio, colheita e tratos.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786D493-52A6-4C7A-8B9A-A0329FDF52A6}"/>
              </a:ext>
            </a:extLst>
          </p:cNvPr>
          <p:cNvSpPr>
            <a:spLocks noGrp="1"/>
          </p:cNvSpPr>
          <p:nvPr/>
        </p:nvSpPr>
        <p:spPr>
          <a:xfrm>
            <a:off x="1428750" y="33432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DE59BDA-8B3C-46DB-AFC9-0EFC736CA37C}"/>
              </a:ext>
            </a:extLst>
          </p:cNvPr>
          <p:cNvSpPr>
            <a:spLocks noGrp="1"/>
          </p:cNvSpPr>
          <p:nvPr/>
        </p:nvSpPr>
        <p:spPr>
          <a:xfrm>
            <a:off x="1619250" y="327660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Treinamentos e reavaliação para corrigir desvios.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5C2D5F8-84A3-4E3B-9775-E37F4F088E4D}"/>
              </a:ext>
            </a:extLst>
          </p:cNvPr>
          <p:cNvSpPr>
            <a:spLocks noGrp="1"/>
          </p:cNvSpPr>
          <p:nvPr/>
        </p:nvSpPr>
        <p:spPr>
          <a:xfrm>
            <a:off x="1428750" y="378142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3AE904B-EA71-4665-A32B-29BA7AE3C4F8}"/>
              </a:ext>
            </a:extLst>
          </p:cNvPr>
          <p:cNvSpPr>
            <a:spLocks noGrp="1"/>
          </p:cNvSpPr>
          <p:nvPr/>
        </p:nvSpPr>
        <p:spPr>
          <a:xfrm>
            <a:off x="1619250" y="37147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Base de evidência para liberar ou bloquear evolução.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58B7DD3-463C-4C89-B286-49A549F08278}"/>
              </a:ext>
            </a:extLst>
          </p:cNvPr>
          <p:cNvSpPr>
            <a:spLocks noGrp="1"/>
          </p:cNvSpPr>
          <p:nvPr/>
        </p:nvSpPr>
        <p:spPr>
          <a:xfrm>
            <a:off x="6429375" y="1581150"/>
            <a:ext cx="4524375" cy="3143250"/>
          </a:xfrm>
          <a:prstGeom prst="rect">
            <a:avLst/>
          </a:prstGeom>
          <a:solidFill>
            <a:srgbClr val="FBF3DD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Gráfico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715125" y="1866900"/>
            <a:ext cx="266700" cy="266700"/>
          </a:xfrm>
          <a:prstGeom prst="rect">
            <a:avLst/>
          </a:prstGeom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2558D087-7472-4541-833B-005CE0EDB78E}"/>
              </a:ext>
            </a:extLst>
          </p:cNvPr>
          <p:cNvSpPr>
            <a:spLocks noGrp="1"/>
          </p:cNvSpPr>
          <p:nvPr/>
        </p:nvSpPr>
        <p:spPr>
          <a:xfrm>
            <a:off x="7115175" y="1866900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Mais Máquinas | braço estrutural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C09456B-5D06-4C0E-8876-23BB6DBCED3A}"/>
              </a:ext>
            </a:extLst>
          </p:cNvPr>
          <p:cNvSpPr>
            <a:spLocks noGrp="1"/>
          </p:cNvSpPr>
          <p:nvPr/>
        </p:nvSpPr>
        <p:spPr>
          <a:xfrm>
            <a:off x="6734175" y="24669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3D088DA-FF3E-4097-88E5-9CA4C0F5BF0D}"/>
              </a:ext>
            </a:extLst>
          </p:cNvPr>
          <p:cNvSpPr>
            <a:spLocks noGrp="1"/>
          </p:cNvSpPr>
          <p:nvPr/>
        </p:nvSpPr>
        <p:spPr>
          <a:xfrm>
            <a:off x="6924675" y="240030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Entra após diagnóstico, correção inicial e aprovação.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7CDD1DD-B605-4D35-9795-3EF88912E9C2}"/>
              </a:ext>
            </a:extLst>
          </p:cNvPr>
          <p:cNvSpPr>
            <a:spLocks noGrp="1"/>
          </p:cNvSpPr>
          <p:nvPr/>
        </p:nvSpPr>
        <p:spPr>
          <a:xfrm>
            <a:off x="6734175" y="290512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63C22A0-A8C5-4B38-A3CD-8B046E1C4F43}"/>
              </a:ext>
            </a:extLst>
          </p:cNvPr>
          <p:cNvSpPr>
            <a:spLocks noGrp="1"/>
          </p:cNvSpPr>
          <p:nvPr/>
        </p:nvSpPr>
        <p:spPr>
          <a:xfrm>
            <a:off x="6924675" y="28384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Equipamentos com teto de coparticipação técnica.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13716CB-90CA-41F5-8F77-38DEFC95C3CB}"/>
              </a:ext>
            </a:extLst>
          </p:cNvPr>
          <p:cNvSpPr>
            <a:spLocks noGrp="1"/>
          </p:cNvSpPr>
          <p:nvPr/>
        </p:nvSpPr>
        <p:spPr>
          <a:xfrm>
            <a:off x="6734175" y="334327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DA0017E-7291-413F-B1C9-0EC3827A26AC}"/>
              </a:ext>
            </a:extLst>
          </p:cNvPr>
          <p:cNvSpPr>
            <a:spLocks noGrp="1"/>
          </p:cNvSpPr>
          <p:nvPr/>
        </p:nvSpPr>
        <p:spPr>
          <a:xfrm>
            <a:off x="6924675" y="327660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Indicado quando há limitação estrutural recorrente.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105BCCB-DE61-4CB0-A01B-0A3DB3201FFB}"/>
              </a:ext>
            </a:extLst>
          </p:cNvPr>
          <p:cNvSpPr>
            <a:spLocks noGrp="1"/>
          </p:cNvSpPr>
          <p:nvPr/>
        </p:nvSpPr>
        <p:spPr>
          <a:xfrm>
            <a:off x="6734175" y="3781425"/>
            <a:ext cx="76200" cy="762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69E93976-2847-4A8E-BBFF-59361A5D2457}"/>
              </a:ext>
            </a:extLst>
          </p:cNvPr>
          <p:cNvSpPr>
            <a:spLocks noGrp="1"/>
          </p:cNvSpPr>
          <p:nvPr/>
        </p:nvSpPr>
        <p:spPr>
          <a:xfrm>
            <a:off x="6924675" y="37147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Implantação precisa de ganho esperado e nova aferição.</a:t>
            </a:r>
          </a:p>
        </p:txBody>
      </p:sp>
    </p:spTree>
    <p:extLst>
      <p:ext uri="{BB962C8B-B14F-4D97-AF65-F5344CB8AC3E}">
        <p14:creationId xmlns:p14="http://schemas.microsoft.com/office/powerpoint/2010/main" val="1829189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87A4C2E5-25B7-4BFC-B1D9-59CCA8979C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9C535F4-179B-4FF0-8EC3-0DE6E1AB4E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19150" cy="685800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D8DCC2A-46D6-4B29-A6CE-49A1288C292B}"/>
              </a:ext>
            </a:extLst>
          </p:cNvPr>
          <p:cNvSpPr>
            <a:spLocks noGrp="1"/>
          </p:cNvSpPr>
          <p:nvPr/>
        </p:nvSpPr>
        <p:spPr>
          <a:xfrm>
            <a:off x="171450" y="3238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ORIZON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EB129BE-3586-4D38-9E48-5489ADE29209}"/>
              </a:ext>
            </a:extLst>
          </p:cNvPr>
          <p:cNvSpPr>
            <a:spLocks noGrp="1"/>
          </p:cNvSpPr>
          <p:nvPr/>
        </p:nvSpPr>
        <p:spPr>
          <a:xfrm>
            <a:off x="228600" y="742950"/>
            <a:ext cx="361950" cy="28575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9F6F2A9-1677-4239-91B0-A59AD07B1006}"/>
              </a:ext>
            </a:extLst>
          </p:cNvPr>
          <p:cNvSpPr>
            <a:spLocks noGrp="1"/>
          </p:cNvSpPr>
          <p:nvPr/>
        </p:nvSpPr>
        <p:spPr>
          <a:xfrm>
            <a:off x="1009650" y="304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09 | ACESSOS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9FCA8B6-F6F3-4EC4-BFB2-83FACFC53DAC}"/>
              </a:ext>
            </a:extLst>
          </p:cNvPr>
          <p:cNvSpPr>
            <a:spLocks noGrp="1"/>
          </p:cNvSpPr>
          <p:nvPr/>
        </p:nvSpPr>
        <p:spPr>
          <a:xfrm>
            <a:off x="1009650" y="571500"/>
            <a:ext cx="838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Governança por perfil protege dados, crédito e narrativa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9EFD0A6-3E77-4FD7-A03A-35B90ED4E3CE}"/>
              </a:ext>
            </a:extLst>
          </p:cNvPr>
          <p:cNvSpPr>
            <a:spLocks noGrp="1"/>
          </p:cNvSpPr>
          <p:nvPr/>
        </p:nvSpPr>
        <p:spPr>
          <a:xfrm>
            <a:off x="1009650" y="64008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Plataforma de evolução operacional agrícola | Diretoria e parceiros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8550E6C-DB68-4390-9FA2-62FDFA110781}"/>
              </a:ext>
            </a:extLst>
          </p:cNvPr>
          <p:cNvSpPr>
            <a:spLocks noGrp="1"/>
          </p:cNvSpPr>
          <p:nvPr/>
        </p:nvSpPr>
        <p:spPr>
          <a:xfrm>
            <a:off x="1381125" y="1428750"/>
            <a:ext cx="9334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CE96693-F425-4277-B831-0EA6795714E3}"/>
              </a:ext>
            </a:extLst>
          </p:cNvPr>
          <p:cNvSpPr>
            <a:spLocks noGrp="1"/>
          </p:cNvSpPr>
          <p:nvPr/>
        </p:nvSpPr>
        <p:spPr>
          <a:xfrm>
            <a:off x="1676400" y="15621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Visitante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9D77E88-DDD7-4B52-9403-6F556EC2E60D}"/>
              </a:ext>
            </a:extLst>
          </p:cNvPr>
          <p:cNvSpPr>
            <a:spLocks noGrp="1"/>
          </p:cNvSpPr>
          <p:nvPr/>
        </p:nvSpPr>
        <p:spPr>
          <a:xfrm>
            <a:off x="4095750" y="15621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Conceito público, trilhas e parceiros sem carteira.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70CE896-BB32-4FBA-83AF-EFF4744BCBAF}"/>
              </a:ext>
            </a:extLst>
          </p:cNvPr>
          <p:cNvSpPr>
            <a:spLocks noGrp="1"/>
          </p:cNvSpPr>
          <p:nvPr/>
        </p:nvSpPr>
        <p:spPr>
          <a:xfrm>
            <a:off x="1381125" y="2152650"/>
            <a:ext cx="9334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AABC566-4FA8-46F8-8A90-185643088138}"/>
              </a:ext>
            </a:extLst>
          </p:cNvPr>
          <p:cNvSpPr>
            <a:spLocks noGrp="1"/>
          </p:cNvSpPr>
          <p:nvPr/>
        </p:nvSpPr>
        <p:spPr>
          <a:xfrm>
            <a:off x="1676400" y="22860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Cliente externo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3B83ADB-6337-4FF0-AA2F-1CE2FBCA5AE1}"/>
              </a:ext>
            </a:extLst>
          </p:cNvPr>
          <p:cNvSpPr>
            <a:spLocks noGrp="1"/>
          </p:cNvSpPr>
          <p:nvPr/>
        </p:nvSpPr>
        <p:spPr>
          <a:xfrm>
            <a:off x="4095750" y="22860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Perfil sanitizado, etapa assistida e próximos marcos.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2C532D9-51C5-4324-B9E7-FDEC4232A37B}"/>
              </a:ext>
            </a:extLst>
          </p:cNvPr>
          <p:cNvSpPr>
            <a:spLocks noGrp="1"/>
          </p:cNvSpPr>
          <p:nvPr/>
        </p:nvSpPr>
        <p:spPr>
          <a:xfrm>
            <a:off x="1381125" y="2876550"/>
            <a:ext cx="9334500" cy="514350"/>
          </a:xfrm>
          <a:prstGeom prst="rect">
            <a:avLst/>
          </a:prstGeom>
          <a:solidFill>
            <a:srgbClr val="E7F0F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00F5AC0-DB4A-4F43-A471-A276AD2307A6}"/>
              </a:ext>
            </a:extLst>
          </p:cNvPr>
          <p:cNvSpPr>
            <a:spLocks noGrp="1"/>
          </p:cNvSpPr>
          <p:nvPr/>
        </p:nvSpPr>
        <p:spPr>
          <a:xfrm>
            <a:off x="1676400" y="30099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Administrador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9EDEDD0-B5F1-4408-9AD6-7B13C50E5C40}"/>
              </a:ext>
            </a:extLst>
          </p:cNvPr>
          <p:cNvSpPr>
            <a:spLocks noGrp="1"/>
          </p:cNvSpPr>
          <p:nvPr/>
        </p:nvSpPr>
        <p:spPr>
          <a:xfrm>
            <a:off x="4095750" y="3009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Carteira completa, score, crédito, BI, CRM e aprovações.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2F71827-1720-4EA8-919F-E1C166D84D7B}"/>
              </a:ext>
            </a:extLst>
          </p:cNvPr>
          <p:cNvSpPr>
            <a:spLocks noGrp="1"/>
          </p:cNvSpPr>
          <p:nvPr/>
        </p:nvSpPr>
        <p:spPr>
          <a:xfrm>
            <a:off x="1381125" y="3600450"/>
            <a:ext cx="9334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53C362B-8B79-4A77-97E5-AE4312224C8F}"/>
              </a:ext>
            </a:extLst>
          </p:cNvPr>
          <p:cNvSpPr>
            <a:spLocks noGrp="1"/>
          </p:cNvSpPr>
          <p:nvPr/>
        </p:nvSpPr>
        <p:spPr>
          <a:xfrm>
            <a:off x="1676400" y="37338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Parceiro TCH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49B4A2E-9FC2-4082-94DE-A0BFA237ECB6}"/>
              </a:ext>
            </a:extLst>
          </p:cNvPr>
          <p:cNvSpPr>
            <a:spLocks noGrp="1"/>
          </p:cNvSpPr>
          <p:nvPr/>
        </p:nvSpPr>
        <p:spPr>
          <a:xfrm>
            <a:off x="4095750" y="37338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Modelos de diagnóstico, laudos e entregáveis técnicos.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912DD67-E34D-4739-9A72-A20754A5898D}"/>
              </a:ext>
            </a:extLst>
          </p:cNvPr>
          <p:cNvSpPr>
            <a:spLocks noGrp="1"/>
          </p:cNvSpPr>
          <p:nvPr/>
        </p:nvSpPr>
        <p:spPr>
          <a:xfrm>
            <a:off x="1381125" y="4324350"/>
            <a:ext cx="9334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267613B-E7E4-4FF5-AEEB-87C0D58DE3FE}"/>
              </a:ext>
            </a:extLst>
          </p:cNvPr>
          <p:cNvSpPr>
            <a:spLocks noGrp="1"/>
          </p:cNvSpPr>
          <p:nvPr/>
        </p:nvSpPr>
        <p:spPr>
          <a:xfrm>
            <a:off x="1676400" y="4457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Parceiro Mais Máquinas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FB337CF-B70A-4CA3-9471-9746DA10D8ED}"/>
              </a:ext>
            </a:extLst>
          </p:cNvPr>
          <p:cNvSpPr>
            <a:spLocks noGrp="1"/>
          </p:cNvSpPr>
          <p:nvPr/>
        </p:nvSpPr>
        <p:spPr>
          <a:xfrm>
            <a:off x="4095750" y="44577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Catálogo, elegibilidade e coparticipação aprovada.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6649070-897C-4E60-926C-B77FF6AAA825}"/>
              </a:ext>
            </a:extLst>
          </p:cNvPr>
          <p:cNvSpPr>
            <a:spLocks noGrp="1"/>
          </p:cNvSpPr>
          <p:nvPr/>
        </p:nvSpPr>
        <p:spPr>
          <a:xfrm>
            <a:off x="3619500" y="1428750"/>
            <a:ext cx="19050" cy="34099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2224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34">
            <a:extLst>
              <a:ext uri="{FF2B5EF4-FFF2-40B4-BE49-F238E27FC236}">
                <a16:creationId xmlns:a16="http://schemas.microsoft.com/office/drawing/2014/main" id="{60B9918A-B11C-4354-9974-FD5B14B61F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C8C9702-E4A6-4038-82B7-4E168D64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19150" cy="685800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122600B-FD6D-415E-B49F-85C63802D1ED}"/>
              </a:ext>
            </a:extLst>
          </p:cNvPr>
          <p:cNvSpPr>
            <a:spLocks noGrp="1"/>
          </p:cNvSpPr>
          <p:nvPr/>
        </p:nvSpPr>
        <p:spPr>
          <a:xfrm>
            <a:off x="171450" y="3238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ORIZON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EEA9A39-5094-438A-8341-930AE7ACD17D}"/>
              </a:ext>
            </a:extLst>
          </p:cNvPr>
          <p:cNvSpPr>
            <a:spLocks noGrp="1"/>
          </p:cNvSpPr>
          <p:nvPr/>
        </p:nvSpPr>
        <p:spPr>
          <a:xfrm>
            <a:off x="228600" y="742950"/>
            <a:ext cx="361950" cy="28575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847D056-A246-4EE9-BD7C-D6A6330BEF9D}"/>
              </a:ext>
            </a:extLst>
          </p:cNvPr>
          <p:cNvSpPr>
            <a:spLocks noGrp="1"/>
          </p:cNvSpPr>
          <p:nvPr/>
        </p:nvSpPr>
        <p:spPr>
          <a:xfrm>
            <a:off x="1009650" y="304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10 | SISTEMAS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6C0A174-C1C2-4BBE-A6E8-82B62BBC043C}"/>
              </a:ext>
            </a:extLst>
          </p:cNvPr>
          <p:cNvSpPr>
            <a:spLocks noGrp="1"/>
          </p:cNvSpPr>
          <p:nvPr/>
        </p:nvSpPr>
        <p:spPr>
          <a:xfrm>
            <a:off x="1009650" y="571500"/>
            <a:ext cx="838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Sistemas mínimos para sair da planilha e operar como plataforma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063973A-13BC-4B43-939C-8CA53D744ADD}"/>
              </a:ext>
            </a:extLst>
          </p:cNvPr>
          <p:cNvSpPr>
            <a:spLocks noGrp="1"/>
          </p:cNvSpPr>
          <p:nvPr/>
        </p:nvSpPr>
        <p:spPr>
          <a:xfrm>
            <a:off x="1009650" y="64008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Plataforma de evolução operacional agrícola | Diretoria e parceiros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305376D-EB10-494E-BE9D-8C17F54F3A41}"/>
              </a:ext>
            </a:extLst>
          </p:cNvPr>
          <p:cNvSpPr>
            <a:spLocks noGrp="1"/>
          </p:cNvSpPr>
          <p:nvPr/>
        </p:nvSpPr>
        <p:spPr>
          <a:xfrm>
            <a:off x="1257300" y="1809750"/>
            <a:ext cx="161925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1D63DD7-B2CE-4F36-A7E7-C081ED55CC5D}"/>
              </a:ext>
            </a:extLst>
          </p:cNvPr>
          <p:cNvSpPr>
            <a:spLocks noGrp="1"/>
          </p:cNvSpPr>
          <p:nvPr/>
        </p:nvSpPr>
        <p:spPr>
          <a:xfrm>
            <a:off x="1485900" y="2095500"/>
            <a:ext cx="400050" cy="40005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ECA428B-F9A3-4C73-8B4F-757343016D3E}"/>
              </a:ext>
            </a:extLst>
          </p:cNvPr>
          <p:cNvSpPr>
            <a:spLocks noGrp="1"/>
          </p:cNvSpPr>
          <p:nvPr/>
        </p:nvSpPr>
        <p:spPr>
          <a:xfrm>
            <a:off x="1485900" y="218122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93B8EFC-26A8-4C53-B022-1D5E25D4C532}"/>
              </a:ext>
            </a:extLst>
          </p:cNvPr>
          <p:cNvSpPr>
            <a:spLocks noGrp="1"/>
          </p:cNvSpPr>
          <p:nvPr/>
        </p:nvSpPr>
        <p:spPr>
          <a:xfrm>
            <a:off x="1466850" y="2724150"/>
            <a:ext cx="1200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Dashboard BI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81027CF-91E5-4028-92C2-BAF1EDC3CA4F}"/>
              </a:ext>
            </a:extLst>
          </p:cNvPr>
          <p:cNvSpPr>
            <a:spLocks noGrp="1"/>
          </p:cNvSpPr>
          <p:nvPr/>
        </p:nvSpPr>
        <p:spPr>
          <a:xfrm>
            <a:off x="1466850" y="3257550"/>
            <a:ext cx="1200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Visão executiva: potencial, crédito, níveis, pipeline e indicadores.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1312130-DDAE-4CDC-877E-55411A7C7EE1}"/>
              </a:ext>
            </a:extLst>
          </p:cNvPr>
          <p:cNvSpPr>
            <a:spLocks noGrp="1"/>
          </p:cNvSpPr>
          <p:nvPr/>
        </p:nvSpPr>
        <p:spPr>
          <a:xfrm>
            <a:off x="3219450" y="1809750"/>
            <a:ext cx="161925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152A7C4-D949-4633-8FBF-837A9B106B73}"/>
              </a:ext>
            </a:extLst>
          </p:cNvPr>
          <p:cNvSpPr>
            <a:spLocks noGrp="1"/>
          </p:cNvSpPr>
          <p:nvPr/>
        </p:nvSpPr>
        <p:spPr>
          <a:xfrm>
            <a:off x="3448050" y="2095500"/>
            <a:ext cx="400050" cy="400050"/>
          </a:xfrm>
          <a:prstGeom prst="rect">
            <a:avLst/>
          </a:prstGeom>
          <a:solidFill>
            <a:srgbClr val="5D9B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C36A37E-0B69-424C-B074-735EC8A2377E}"/>
              </a:ext>
            </a:extLst>
          </p:cNvPr>
          <p:cNvSpPr>
            <a:spLocks noGrp="1"/>
          </p:cNvSpPr>
          <p:nvPr/>
        </p:nvSpPr>
        <p:spPr>
          <a:xfrm>
            <a:off x="3448050" y="218122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8E2E91D-7A9C-4CCC-B446-F959E8FDCBB3}"/>
              </a:ext>
            </a:extLst>
          </p:cNvPr>
          <p:cNvSpPr>
            <a:spLocks noGrp="1"/>
          </p:cNvSpPr>
          <p:nvPr/>
        </p:nvSpPr>
        <p:spPr>
          <a:xfrm>
            <a:off x="3429000" y="2724150"/>
            <a:ext cx="1200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D9B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9B47"/>
                </a:solidFill>
                <a:latin typeface="Aptos"/>
                <a:ea typeface="Aptos"/>
                <a:cs typeface="Aptos"/>
              </a:rPr>
              <a:t>CRM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41222C8-B7AF-4FCF-800B-B2A2D50CF5B4}"/>
              </a:ext>
            </a:extLst>
          </p:cNvPr>
          <p:cNvSpPr>
            <a:spLocks noGrp="1"/>
          </p:cNvSpPr>
          <p:nvPr/>
        </p:nvSpPr>
        <p:spPr>
          <a:xfrm>
            <a:off x="3429000" y="3257550"/>
            <a:ext cx="1200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Conta, dono, histórico, plano técnico, status e próxima ação.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9256669-E611-40EA-90C7-DDA185883D68}"/>
              </a:ext>
            </a:extLst>
          </p:cNvPr>
          <p:cNvSpPr>
            <a:spLocks noGrp="1"/>
          </p:cNvSpPr>
          <p:nvPr/>
        </p:nvSpPr>
        <p:spPr>
          <a:xfrm>
            <a:off x="5181600" y="1809750"/>
            <a:ext cx="161925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2975FE7-F3EC-4C03-8083-D5F12A4AD365}"/>
              </a:ext>
            </a:extLst>
          </p:cNvPr>
          <p:cNvSpPr>
            <a:spLocks noGrp="1"/>
          </p:cNvSpPr>
          <p:nvPr/>
        </p:nvSpPr>
        <p:spPr>
          <a:xfrm>
            <a:off x="5410200" y="2095500"/>
            <a:ext cx="400050" cy="40005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22F1CAC-9444-4B9A-A270-539ED2B8EF9B}"/>
              </a:ext>
            </a:extLst>
          </p:cNvPr>
          <p:cNvSpPr>
            <a:spLocks noGrp="1"/>
          </p:cNvSpPr>
          <p:nvPr/>
        </p:nvSpPr>
        <p:spPr>
          <a:xfrm>
            <a:off x="5410200" y="218122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9FD2083-6713-4FB5-8E32-B2A58A6500E6}"/>
              </a:ext>
            </a:extLst>
          </p:cNvPr>
          <p:cNvSpPr>
            <a:spLocks noGrp="1"/>
          </p:cNvSpPr>
          <p:nvPr/>
        </p:nvSpPr>
        <p:spPr>
          <a:xfrm>
            <a:off x="5391150" y="2724150"/>
            <a:ext cx="1200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Aprovação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3354B2A-28FA-42A2-A394-BD2969763A0D}"/>
              </a:ext>
            </a:extLst>
          </p:cNvPr>
          <p:cNvSpPr>
            <a:spLocks noGrp="1"/>
          </p:cNvSpPr>
          <p:nvPr/>
        </p:nvSpPr>
        <p:spPr>
          <a:xfrm>
            <a:off x="5391150" y="3257550"/>
            <a:ext cx="1200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Assinatura, alçadas, anexos, bloqueios e trilha de auditoria.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6CCC7A8-F09D-41E4-A6F9-F3413417BEEF}"/>
              </a:ext>
            </a:extLst>
          </p:cNvPr>
          <p:cNvSpPr>
            <a:spLocks noGrp="1"/>
          </p:cNvSpPr>
          <p:nvPr/>
        </p:nvSpPr>
        <p:spPr>
          <a:xfrm>
            <a:off x="7143750" y="1809750"/>
            <a:ext cx="161925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D5AB8E8-2720-4C5B-93A0-D5DD96DB9B31}"/>
              </a:ext>
            </a:extLst>
          </p:cNvPr>
          <p:cNvSpPr>
            <a:spLocks noGrp="1"/>
          </p:cNvSpPr>
          <p:nvPr/>
        </p:nvSpPr>
        <p:spPr>
          <a:xfrm>
            <a:off x="7372350" y="2095500"/>
            <a:ext cx="400050" cy="40005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EAE88C0-87A7-4BAD-A573-D99422B5A6D8}"/>
              </a:ext>
            </a:extLst>
          </p:cNvPr>
          <p:cNvSpPr>
            <a:spLocks noGrp="1"/>
          </p:cNvSpPr>
          <p:nvPr/>
        </p:nvSpPr>
        <p:spPr>
          <a:xfrm>
            <a:off x="7372350" y="218122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421FE12-2BC1-409E-AC09-6B4E1CDAD87F}"/>
              </a:ext>
            </a:extLst>
          </p:cNvPr>
          <p:cNvSpPr>
            <a:spLocks noGrp="1"/>
          </p:cNvSpPr>
          <p:nvPr/>
        </p:nvSpPr>
        <p:spPr>
          <a:xfrm>
            <a:off x="7353300" y="2724150"/>
            <a:ext cx="1200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GIS / Mapas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41215D3-BFD2-482F-955D-2A1291905FED}"/>
              </a:ext>
            </a:extLst>
          </p:cNvPr>
          <p:cNvSpPr>
            <a:spLocks noGrp="1"/>
          </p:cNvSpPr>
          <p:nvPr/>
        </p:nvSpPr>
        <p:spPr>
          <a:xfrm>
            <a:off x="7353300" y="3257550"/>
            <a:ext cx="1200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Unidade, área evoluída, cobertura territorial e expansão.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76A9945-55F6-4ED3-9047-F50B52763D0F}"/>
              </a:ext>
            </a:extLst>
          </p:cNvPr>
          <p:cNvSpPr>
            <a:spLocks noGrp="1"/>
          </p:cNvSpPr>
          <p:nvPr/>
        </p:nvSpPr>
        <p:spPr>
          <a:xfrm>
            <a:off x="9105900" y="1809750"/>
            <a:ext cx="161925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21AD14D9-7B4B-49E5-A34C-326526EBAAE6}"/>
              </a:ext>
            </a:extLst>
          </p:cNvPr>
          <p:cNvSpPr>
            <a:spLocks noGrp="1"/>
          </p:cNvSpPr>
          <p:nvPr/>
        </p:nvSpPr>
        <p:spPr>
          <a:xfrm>
            <a:off x="9334500" y="2095500"/>
            <a:ext cx="400050" cy="400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14F3354-8E71-4971-8E2A-01B0E3B5122E}"/>
              </a:ext>
            </a:extLst>
          </p:cNvPr>
          <p:cNvSpPr>
            <a:spLocks noGrp="1"/>
          </p:cNvSpPr>
          <p:nvPr/>
        </p:nvSpPr>
        <p:spPr>
          <a:xfrm>
            <a:off x="9334500" y="218122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3B12051-C272-4469-A297-F3ED23602B51}"/>
              </a:ext>
            </a:extLst>
          </p:cNvPr>
          <p:cNvSpPr>
            <a:spLocks noGrp="1"/>
          </p:cNvSpPr>
          <p:nvPr/>
        </p:nvSpPr>
        <p:spPr>
          <a:xfrm>
            <a:off x="9315450" y="2724150"/>
            <a:ext cx="1200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Follow-up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A3189662-6C7F-450F-98B4-E837C3CFDB34}"/>
              </a:ext>
            </a:extLst>
          </p:cNvPr>
          <p:cNvSpPr>
            <a:spLocks noGrp="1"/>
          </p:cNvSpPr>
          <p:nvPr/>
        </p:nvSpPr>
        <p:spPr>
          <a:xfrm>
            <a:off x="9315450" y="3257550"/>
            <a:ext cx="1200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Cadência semanal, quinzenal, mensal e trimestral.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B7D52F6-9722-4A75-BFEB-80B6B3F066CD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9467850" cy="609600"/>
          </a:xfrm>
          <a:prstGeom prst="rect">
            <a:avLst/>
          </a:prstGeom>
          <a:solidFill>
            <a:srgbClr val="EAF4E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47F7F71-C979-4E2C-904C-7EBBEF7565F4}"/>
              </a:ext>
            </a:extLst>
          </p:cNvPr>
          <p:cNvSpPr>
            <a:spLocks noGrp="1"/>
          </p:cNvSpPr>
          <p:nvPr/>
        </p:nvSpPr>
        <p:spPr>
          <a:xfrm>
            <a:off x="1543050" y="4857750"/>
            <a:ext cx="838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D9B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9B47"/>
                </a:solidFill>
                <a:latin typeface="Aptos"/>
                <a:ea typeface="Aptos"/>
                <a:cs typeface="Aptos"/>
              </a:rPr>
              <a:t>Onda 1 recomendada: BI + CRM + Aprovação. Onda 2: GIS + automação de follow-up.</a:t>
            </a:r>
          </a:p>
        </p:txBody>
      </p:sp>
    </p:spTree>
    <p:extLst>
      <p:ext uri="{BB962C8B-B14F-4D97-AF65-F5344CB8AC3E}">
        <p14:creationId xmlns:p14="http://schemas.microsoft.com/office/powerpoint/2010/main" val="631303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944CE16B-48E0-400E-9AE6-5D78CE99AA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63B0C82-CFFD-4CC3-85B5-D44B3302F7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19150" cy="685800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8B2E1DA-2340-4583-8E4D-8A5B7562EEAE}"/>
              </a:ext>
            </a:extLst>
          </p:cNvPr>
          <p:cNvSpPr>
            <a:spLocks noGrp="1"/>
          </p:cNvSpPr>
          <p:nvPr/>
        </p:nvSpPr>
        <p:spPr>
          <a:xfrm>
            <a:off x="171450" y="3238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ORIZON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3D017D3-9B37-41C8-937F-710E40DF023D}"/>
              </a:ext>
            </a:extLst>
          </p:cNvPr>
          <p:cNvSpPr>
            <a:spLocks noGrp="1"/>
          </p:cNvSpPr>
          <p:nvPr/>
        </p:nvSpPr>
        <p:spPr>
          <a:xfrm>
            <a:off x="228600" y="742950"/>
            <a:ext cx="361950" cy="28575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5437F08-1534-4A77-8DD3-1006676D65E5}"/>
              </a:ext>
            </a:extLst>
          </p:cNvPr>
          <p:cNvSpPr>
            <a:spLocks noGrp="1"/>
          </p:cNvSpPr>
          <p:nvPr/>
        </p:nvSpPr>
        <p:spPr>
          <a:xfrm>
            <a:off x="1009650" y="304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11 | EXECUÇÃO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EFC704A-2748-4B5E-9882-6F9A9503D114}"/>
              </a:ext>
            </a:extLst>
          </p:cNvPr>
          <p:cNvSpPr>
            <a:spLocks noGrp="1"/>
          </p:cNvSpPr>
          <p:nvPr/>
        </p:nvSpPr>
        <p:spPr>
          <a:xfrm>
            <a:off x="1009650" y="571500"/>
            <a:ext cx="838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Roteiro 90 dias para diretoria e parceiros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4B6AD8F-8B87-4416-A452-C66F7D84A10B}"/>
              </a:ext>
            </a:extLst>
          </p:cNvPr>
          <p:cNvSpPr>
            <a:spLocks noGrp="1"/>
          </p:cNvSpPr>
          <p:nvPr/>
        </p:nvSpPr>
        <p:spPr>
          <a:xfrm>
            <a:off x="1009650" y="64008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Plataforma de evolução operacional agrícola | Diretoria e parceiros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1CD71E4-ED81-4C2B-82A7-0D387A026B77}"/>
              </a:ext>
            </a:extLst>
          </p:cNvPr>
          <p:cNvSpPr>
            <a:spLocks noGrp="1"/>
          </p:cNvSpPr>
          <p:nvPr/>
        </p:nvSpPr>
        <p:spPr>
          <a:xfrm>
            <a:off x="1238250" y="1866900"/>
            <a:ext cx="276225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A43272-A38F-49F4-BD96-98C870856BBE}"/>
              </a:ext>
            </a:extLst>
          </p:cNvPr>
          <p:cNvSpPr>
            <a:spLocks noGrp="1"/>
          </p:cNvSpPr>
          <p:nvPr/>
        </p:nvSpPr>
        <p:spPr>
          <a:xfrm>
            <a:off x="1428750" y="2057400"/>
            <a:ext cx="342900" cy="342900"/>
          </a:xfrm>
          <a:prstGeom prst="rect">
            <a:avLst/>
          </a:prstGeom>
          <a:solidFill>
            <a:srgbClr val="083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D54B829-C570-4554-8923-84E5448FE0F5}"/>
              </a:ext>
            </a:extLst>
          </p:cNvPr>
          <p:cNvSpPr>
            <a:spLocks noGrp="1"/>
          </p:cNvSpPr>
          <p:nvPr/>
        </p:nvSpPr>
        <p:spPr>
          <a:xfrm>
            <a:off x="1428750" y="211455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53DC996-E1F3-45E6-B2FD-375FDABF8F3F}"/>
              </a:ext>
            </a:extLst>
          </p:cNvPr>
          <p:cNvSpPr>
            <a:spLocks noGrp="1"/>
          </p:cNvSpPr>
          <p:nvPr/>
        </p:nvSpPr>
        <p:spPr>
          <a:xfrm>
            <a:off x="1885950" y="2057400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83B6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83B66"/>
                </a:solidFill>
                <a:latin typeface="Aptos"/>
                <a:ea typeface="Aptos"/>
                <a:cs typeface="Aptos"/>
              </a:rPr>
              <a:t>0-30 dias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122B38D-54FF-449E-9858-5BFCD0EF252F}"/>
              </a:ext>
            </a:extLst>
          </p:cNvPr>
          <p:cNvSpPr>
            <a:spLocks noGrp="1"/>
          </p:cNvSpPr>
          <p:nvPr/>
        </p:nvSpPr>
        <p:spPr>
          <a:xfrm>
            <a:off x="1428750" y="2495550"/>
            <a:ext cx="2381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Padronizar base, campos obrigatórios, pesos de produto, níveis e modelo de plano técnico.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B2564C5-0E43-445C-8945-7AE875CA6B4F}"/>
              </a:ext>
            </a:extLst>
          </p:cNvPr>
          <p:cNvSpPr>
            <a:spLocks noGrp="1"/>
          </p:cNvSpPr>
          <p:nvPr/>
        </p:nvSpPr>
        <p:spPr>
          <a:xfrm>
            <a:off x="4572000" y="1866900"/>
            <a:ext cx="276225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4F586FC-1325-458B-BD57-67A2CCE92936}"/>
              </a:ext>
            </a:extLst>
          </p:cNvPr>
          <p:cNvSpPr>
            <a:spLocks noGrp="1"/>
          </p:cNvSpPr>
          <p:nvPr/>
        </p:nvSpPr>
        <p:spPr>
          <a:xfrm>
            <a:off x="4762500" y="2057400"/>
            <a:ext cx="342900" cy="342900"/>
          </a:xfrm>
          <a:prstGeom prst="rect">
            <a:avLst/>
          </a:prstGeom>
          <a:solidFill>
            <a:srgbClr val="F36F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C8AB5CA-406C-437A-838B-BC0721289A33}"/>
              </a:ext>
            </a:extLst>
          </p:cNvPr>
          <p:cNvSpPr>
            <a:spLocks noGrp="1"/>
          </p:cNvSpPr>
          <p:nvPr/>
        </p:nvSpPr>
        <p:spPr>
          <a:xfrm>
            <a:off x="4762500" y="211455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F84620F-9A71-4D66-A35F-3438E77F9E90}"/>
              </a:ext>
            </a:extLst>
          </p:cNvPr>
          <p:cNvSpPr>
            <a:spLocks noGrp="1"/>
          </p:cNvSpPr>
          <p:nvPr/>
        </p:nvSpPr>
        <p:spPr>
          <a:xfrm>
            <a:off x="5219700" y="2057400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31-60 dias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2A45A10-9A91-48F3-BBF6-463181DE71CD}"/>
              </a:ext>
            </a:extLst>
          </p:cNvPr>
          <p:cNvSpPr>
            <a:spLocks noGrp="1"/>
          </p:cNvSpPr>
          <p:nvPr/>
        </p:nvSpPr>
        <p:spPr>
          <a:xfrm>
            <a:off x="4762500" y="2495550"/>
            <a:ext cx="2381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Rodar piloto assistido com contas prioritárias, TCH em diagnóstico e governança de aprovação.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066CBC9-F447-4BD4-9E2C-D59EC29D50A4}"/>
              </a:ext>
            </a:extLst>
          </p:cNvPr>
          <p:cNvSpPr>
            <a:spLocks noGrp="1"/>
          </p:cNvSpPr>
          <p:nvPr/>
        </p:nvSpPr>
        <p:spPr>
          <a:xfrm>
            <a:off x="7905750" y="1866900"/>
            <a:ext cx="276225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8C33C53-95A5-4F6F-994E-324E7F46E356}"/>
              </a:ext>
            </a:extLst>
          </p:cNvPr>
          <p:cNvSpPr>
            <a:spLocks noGrp="1"/>
          </p:cNvSpPr>
          <p:nvPr/>
        </p:nvSpPr>
        <p:spPr>
          <a:xfrm>
            <a:off x="8096250" y="2057400"/>
            <a:ext cx="342900" cy="342900"/>
          </a:xfrm>
          <a:prstGeom prst="rect">
            <a:avLst/>
          </a:prstGeom>
          <a:solidFill>
            <a:srgbClr val="5D9B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C0395E9-A52F-4AFB-86A5-97967E875469}"/>
              </a:ext>
            </a:extLst>
          </p:cNvPr>
          <p:cNvSpPr>
            <a:spLocks noGrp="1"/>
          </p:cNvSpPr>
          <p:nvPr/>
        </p:nvSpPr>
        <p:spPr>
          <a:xfrm>
            <a:off x="8096250" y="211455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52B09A5-6EE8-478C-BC97-5BE0FF03DADC}"/>
              </a:ext>
            </a:extLst>
          </p:cNvPr>
          <p:cNvSpPr>
            <a:spLocks noGrp="1"/>
          </p:cNvSpPr>
          <p:nvPr/>
        </p:nvSpPr>
        <p:spPr>
          <a:xfrm>
            <a:off x="8553450" y="2057400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5D9B4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D9B47"/>
                </a:solidFill>
                <a:latin typeface="Aptos"/>
                <a:ea typeface="Aptos"/>
                <a:cs typeface="Aptos"/>
              </a:rPr>
              <a:t>61-90 dias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CBF0F4F-D8B9-4295-8CCF-181AA75AF166}"/>
              </a:ext>
            </a:extLst>
          </p:cNvPr>
          <p:cNvSpPr>
            <a:spLocks noGrp="1"/>
          </p:cNvSpPr>
          <p:nvPr/>
        </p:nvSpPr>
        <p:spPr>
          <a:xfrm>
            <a:off x="8096250" y="2495550"/>
            <a:ext cx="2381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Emitir Evolution Reports, validar créditos aprovados, decidir expansão e estruturar onda 2.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F5C8CBF-DA72-4A4B-B7A2-A62162617F7A}"/>
              </a:ext>
            </a:extLst>
          </p:cNvPr>
          <p:cNvSpPr>
            <a:spLocks noGrp="1"/>
          </p:cNvSpPr>
          <p:nvPr/>
        </p:nvSpPr>
        <p:spPr>
          <a:xfrm>
            <a:off x="4000500" y="2600325"/>
            <a:ext cx="571500" cy="190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826D2D1-DE06-4F6C-8929-A4805D5B9C43}"/>
              </a:ext>
            </a:extLst>
          </p:cNvPr>
          <p:cNvSpPr>
            <a:spLocks noGrp="1"/>
          </p:cNvSpPr>
          <p:nvPr/>
        </p:nvSpPr>
        <p:spPr>
          <a:xfrm>
            <a:off x="4495800" y="2552700"/>
            <a:ext cx="95250" cy="952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0F12589-E0FF-4854-908A-147BB42E8048}"/>
              </a:ext>
            </a:extLst>
          </p:cNvPr>
          <p:cNvSpPr>
            <a:spLocks noGrp="1"/>
          </p:cNvSpPr>
          <p:nvPr/>
        </p:nvSpPr>
        <p:spPr>
          <a:xfrm>
            <a:off x="7334250" y="2600325"/>
            <a:ext cx="571500" cy="190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FDCF1B2-586C-444D-BAA4-6852B0F5D5A0}"/>
              </a:ext>
            </a:extLst>
          </p:cNvPr>
          <p:cNvSpPr>
            <a:spLocks noGrp="1"/>
          </p:cNvSpPr>
          <p:nvPr/>
        </p:nvSpPr>
        <p:spPr>
          <a:xfrm>
            <a:off x="7829550" y="2552700"/>
            <a:ext cx="95250" cy="95250"/>
          </a:xfrm>
          <a:prstGeom prst="rect">
            <a:avLst/>
          </a:prstGeom>
          <a:solidFill>
            <a:srgbClr val="D7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9F4BFBA-E714-49E6-8FA0-4A09E31FE167}"/>
              </a:ext>
            </a:extLst>
          </p:cNvPr>
          <p:cNvSpPr>
            <a:spLocks noGrp="1"/>
          </p:cNvSpPr>
          <p:nvPr/>
        </p:nvSpPr>
        <p:spPr>
          <a:xfrm>
            <a:off x="1238250" y="4305300"/>
            <a:ext cx="9429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56DB58FA-02FE-47DA-B768-D7ADC43D50D6}"/>
              </a:ext>
            </a:extLst>
          </p:cNvPr>
          <p:cNvSpPr>
            <a:spLocks noGrp="1"/>
          </p:cNvSpPr>
          <p:nvPr/>
        </p:nvSpPr>
        <p:spPr>
          <a:xfrm>
            <a:off x="1524000" y="4533900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Comitê mensal ORIZON: revisar score, planos aprovados, budget comprometido, evidências, resultados e próximos marcos por cliente.</a:t>
            </a:r>
          </a:p>
        </p:txBody>
      </p:sp>
    </p:spTree>
    <p:extLst>
      <p:ext uri="{BB962C8B-B14F-4D97-AF65-F5344CB8AC3E}">
        <p14:creationId xmlns:p14="http://schemas.microsoft.com/office/powerpoint/2010/main" val="5514297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1134</Words>
  <Application>Microsoft Office PowerPoint</Application>
  <DocSecurity>0</DocSecurity>
  <PresentationFormat>Widescreen</PresentationFormat>
  <Paragraphs>184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Aptos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Rodolfo Carneiro</cp:lastModifiedBy>
  <cp:revision>1</cp:revision>
  <dcterms:created xsi:type="dcterms:W3CDTF">2026-05-29T19:31:15Z</dcterms:created>
  <dcterms:modified xsi:type="dcterms:W3CDTF">2026-05-29T19:39:37Z</dcterms:modified>
</cp:coreProperties>
</file>